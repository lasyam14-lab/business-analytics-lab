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A2FC-02FA-2D8F-17C6-0CBBAD31E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FBEB6-C1D6-97AE-0AAE-5A1559BE8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2FBAC-B7DF-4109-0272-D8540004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E5B82-4995-0BC6-2867-C6F54BD2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DB8CE-FED6-D79D-159E-DB3DCDC9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1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CC6C-6CD6-C401-6E03-B08C0BB33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5097B-CEF1-F500-CC71-8BB4444B8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1F6F7-79CD-ECFE-822B-778BCA82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A6FF5-FD2B-6075-7915-3CFD7B42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D9BC-BFCF-7616-1A4F-03787DF7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0B59-C049-AD17-CD83-04533A6D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8D3CD-E663-5221-1804-CFEBBABED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08310-76F2-A9DF-65A5-B1D137CF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CC43C-9D3F-FB15-C104-83C9F62B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622A6-19A9-60EA-DC38-4EFEF71A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1B9A-E4BD-BE13-64F1-26F3183A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B07A-764B-B424-9264-56CCFB10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D42AF-229E-DA28-DFE0-6BFF79E17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5763D-25CA-AC63-8C62-575EFBAE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D7670-A265-F36D-2386-C52DF44C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D0AAA-D0DC-60A2-E450-F32A1B29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11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82D3-BF46-40CA-7499-162E59D8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5133C-8263-9B0A-FBC1-33A3547D6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0814D-265C-F982-C7B3-618D39D40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6A77D4-362D-6754-AE2C-B48625CAD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0DC10-10FA-8FEB-7013-C1A29C43E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770E5-4F54-84E5-47A3-B94E6F26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7F02C-24CE-4EDF-74C5-F9936955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C893D-2BAB-0493-21E4-DC139D73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4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7B768-814B-2C2F-E596-E9913FDC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9B1EE-9E01-04F1-C48F-0CB501A3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9EA20-0C98-2645-49D1-DEBD2CA8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0105-EC9E-BCBA-455E-613C583D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2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8EE51-0F6C-ABE9-4A8D-6D4E07F1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0AAEC-E9C3-B893-85DB-A8E80FB7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324D-8B28-4861-A567-BA6DA6D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5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352F-B0A2-CA1E-0A77-0C0DC401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F99D-CD40-67A1-4DB1-6B3471F3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29688-8D4D-A9A6-6E23-7CB22619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7AD5-10E5-0402-CD00-D096E1BA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A4F71-6C6D-30B0-A7FF-8DDDB7D7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FE5EC-EB2D-6F58-74FD-73351C26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0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246A-BD4C-E9DA-E1DD-F463FF2C1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A3B4E-B62F-AA26-1C18-6E8CD7848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12D9D-A54B-696E-DD66-33469ADA7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56426-4854-17B4-D7BD-8154E199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2A9FF-FFB6-4EB1-FC0D-3B5804B0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23011-E6AD-F7F1-3313-AA737227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7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E78B-7F12-CD1F-24BA-E9DB77D69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268C9-4BCD-A3B7-0933-48243456E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D0E9C-AF93-6316-69D1-A118F6D9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DB52-9A48-0213-8B21-3C3ED030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BE5A-B9A0-1926-BD46-C4AD7A40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7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9ABC1-DACD-9340-B31C-504BFAA44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F370E-68CB-5ABC-E5DC-26449943E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E8980-11DE-B554-1001-9ACB5520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F50CD-9C85-6426-31BD-94A2C21B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FD853-E3C7-1E6A-497A-7A29D0A0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7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0A5BC-F526-B35E-F704-2B1B1208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52BBB-C464-CB62-AB8B-1E0EB9C09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F4E6E-397F-A21F-291F-841CBBF68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E5F3D-A89E-42A4-ADAE-37CD1777814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55971-7E69-974A-158D-B860FE458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47DB6-F3B1-7C27-0C26-E9CCEE89A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00EB-FFD4-4AB4-88C1-A79C39438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0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machine_learning/machine_learning_logistic_regression.htm" TargetMode="External"/><Relationship Id="rId2" Type="http://schemas.openxmlformats.org/officeDocument/2006/relationships/hyperlink" Target="https://www.geeksforgeeks.org/machine-learning/understanding-logistic-regress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lu-explain.github.io/logistic-regression/" TargetMode="External"/><Relationship Id="rId4" Type="http://schemas.openxmlformats.org/officeDocument/2006/relationships/hyperlink" Target="https://machinelearningmastery.com/a-gentle-introduction-to-sigmoid-fun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8C0A-55F3-8FA2-223A-52CBC7F02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Logistic Regression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30BC6-2CF8-0D0D-4B8C-C5DFDE3C1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55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0A41-2B15-F587-8BB1-8FBFC48F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65D5-8BC6-F7DA-410A-D249299C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Logistic Regression is a supervised machine learning algorithm used for classification problems.</a:t>
            </a:r>
          </a:p>
          <a:p>
            <a:pPr algn="just"/>
            <a:r>
              <a:rPr lang="en-US" dirty="0"/>
              <a:t>It is used for binary classification where the output can be one of two possible categories such as Yes/No, True/False or 0/1.</a:t>
            </a:r>
          </a:p>
          <a:p>
            <a:pPr algn="just"/>
            <a:r>
              <a:rPr lang="en-US" dirty="0"/>
              <a:t>It uses sigmoid function to convert inputs into a probability value between 0 and 1.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92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C813-F754-38C7-0016-C681E0D7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Sigmoid Function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DB9A-88FB-EEA4-0A54-BB33474D5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 fontAlgn="base">
              <a:buNone/>
            </a:pPr>
            <a:r>
              <a:rPr lang="en-US" dirty="0"/>
              <a:t>1. The sigmoid function is an important part of logistic regression which is used to convert the raw output of the model into a probability value between 0 and 1.</a:t>
            </a:r>
          </a:p>
          <a:p>
            <a:pPr marL="0" indent="0" algn="just" fontAlgn="base">
              <a:buNone/>
            </a:pPr>
            <a:r>
              <a:rPr lang="en-US" dirty="0"/>
              <a:t>2. This function takes any real number and maps it into the range 0 to 1 forming an "S" shaped curve called the sigmoid curve or logistic curve. Because probabilities must lie between 0 and 1, the sigmoid function is perfect for this purpose.</a:t>
            </a:r>
          </a:p>
          <a:p>
            <a:pPr marL="0" indent="0" algn="just" fontAlgn="base">
              <a:buNone/>
            </a:pPr>
            <a:r>
              <a:rPr lang="en-US" dirty="0"/>
              <a:t>3. In logistic regression, we use a threshold value usually 0.5 to decide the class label.</a:t>
            </a:r>
          </a:p>
          <a:p>
            <a:pPr algn="just" fontAlgn="base"/>
            <a:r>
              <a:rPr lang="en-US" dirty="0"/>
              <a:t>If the sigmoid output is same or above the threshold, the input is classified as Class 1.</a:t>
            </a:r>
          </a:p>
          <a:p>
            <a:pPr algn="just" fontAlgn="base"/>
            <a:r>
              <a:rPr lang="en-US" dirty="0"/>
              <a:t>If it is below the threshold, the input is classified as Class 0.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47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A336-D88C-5B20-0220-EE571540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Mathematical representation of Sigmoid Activation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87977A-ECC3-6F04-7122-85E1FAC0D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421" y="2092627"/>
            <a:ext cx="7963382" cy="355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3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336B-F005-40D3-80A1-FF3CFADC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 of Sigmoid Activation Function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6B13B-245A-1E55-C361-B95D64100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888" y="1825625"/>
            <a:ext cx="69362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3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B422-DAE2-991D-E870-209BF77C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Properties of Sigmoid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F628C-3396-162B-E960-9C40612BF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Domain: (-∞, +∞)</a:t>
            </a:r>
          </a:p>
          <a:p>
            <a:pPr fontAlgn="base"/>
            <a:r>
              <a:rPr lang="en-US" dirty="0"/>
              <a:t>Range: (0, +1)</a:t>
            </a:r>
          </a:p>
          <a:p>
            <a:pPr fontAlgn="base"/>
            <a:r>
              <a:rPr lang="en-US" dirty="0"/>
              <a:t>σ(0) = 0.5</a:t>
            </a:r>
          </a:p>
          <a:p>
            <a:pPr fontAlgn="base"/>
            <a:r>
              <a:rPr lang="en-US" dirty="0"/>
              <a:t>The function is monotonically increasing.</a:t>
            </a:r>
          </a:p>
          <a:p>
            <a:pPr fontAlgn="base"/>
            <a:r>
              <a:rPr lang="en-US" dirty="0"/>
              <a:t>The function is continuous everywhere.</a:t>
            </a:r>
          </a:p>
          <a:p>
            <a:pPr fontAlgn="base"/>
            <a:r>
              <a:rPr lang="en-US" dirty="0"/>
              <a:t>The function is differentiable everywhere in its domain.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83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3440-0C00-1ED6-0E9E-3108A7E1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of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8F47-ED78-312D-7FFD-371ED7618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Logistic regression model transforms the linear regression function continuous value output into categorical value output using a sigmoid function which maps any real-valued set of independent variables input into a value between 0 and 1. </a:t>
            </a:r>
          </a:p>
          <a:p>
            <a:pPr marL="0" indent="0" algn="just">
              <a:buNone/>
            </a:pPr>
            <a:r>
              <a:rPr lang="en-US" b="1" i="1" dirty="0"/>
              <a:t>This function is known as the logistic function.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61836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FF2E-5584-1A48-4E11-F205EC03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Logistic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E10A8-582E-730B-0592-2DCA469E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Looks at input features (marks, age, income, words in email…)</a:t>
            </a:r>
          </a:p>
          <a:p>
            <a:r>
              <a:rPr lang="en-US" dirty="0"/>
              <a:t>Calculates a </a:t>
            </a:r>
            <a:r>
              <a:rPr lang="en-US" b="1" dirty="0"/>
              <a:t>score</a:t>
            </a:r>
            <a:endParaRPr lang="en-US" dirty="0"/>
          </a:p>
          <a:p>
            <a:r>
              <a:rPr lang="en-US" dirty="0"/>
              <a:t>Converts the score into a </a:t>
            </a:r>
            <a:r>
              <a:rPr lang="en-US" b="1" dirty="0"/>
              <a:t>probability between 0 and 1</a:t>
            </a:r>
            <a:endParaRPr lang="en-US" dirty="0"/>
          </a:p>
          <a:p>
            <a:r>
              <a:rPr lang="en-US" dirty="0"/>
              <a:t>Makes decision</a:t>
            </a:r>
          </a:p>
          <a:p>
            <a:pPr marL="457200" lvl="1" indent="0">
              <a:buNone/>
            </a:pPr>
            <a:r>
              <a:rPr lang="en-US" dirty="0"/>
              <a:t>	If probability ≥ 0.5 then class </a:t>
            </a:r>
            <a:r>
              <a:rPr lang="en-US" b="1" dirty="0"/>
              <a:t>1 (YES)</a:t>
            </a:r>
            <a:br>
              <a:rPr lang="en-US" dirty="0"/>
            </a:br>
            <a:r>
              <a:rPr lang="en-US" dirty="0"/>
              <a:t>	If probability &lt; 0.5 then class </a:t>
            </a:r>
            <a:r>
              <a:rPr lang="en-US" b="1" dirty="0"/>
              <a:t>0 (NO)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53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6AFC-EA9B-9F47-5566-94B93FDE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B05F2-9DDA-D0FB-1248-6654819C4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It uses Sigmoid Function for calculating the probabilities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B05F2-9DDA-D0FB-1248-6654819C4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51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650F-49DB-3BF7-785C-328EDF4D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Logistic Regression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A865-8477-4765-9A4B-7F95BCF34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Binomial Logistic Regression</a:t>
            </a:r>
          </a:p>
          <a:p>
            <a:pPr fontAlgn="base"/>
            <a:r>
              <a:rPr lang="en-US" b="1" dirty="0"/>
              <a:t>Multinomial Logistic Regression</a:t>
            </a:r>
          </a:p>
          <a:p>
            <a:pPr fontAlgn="base"/>
            <a:r>
              <a:rPr lang="en-US" b="1" dirty="0"/>
              <a:t>Ordinal Logistic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9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F070-A327-70CA-562E-82AE2805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Assumptions of Logistic Regression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FB6C-6DE9-E40C-8990-2E6A0119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US" b="1" dirty="0"/>
              <a:t>Independent observations</a:t>
            </a:r>
          </a:p>
          <a:p>
            <a:pPr fontAlgn="base"/>
            <a:r>
              <a:rPr lang="en-US" b="1" dirty="0"/>
              <a:t>Binary dependent variables</a:t>
            </a:r>
          </a:p>
          <a:p>
            <a:pPr fontAlgn="base"/>
            <a:r>
              <a:rPr lang="en-US" b="1" dirty="0"/>
              <a:t>Linearity relationship between independent variables and log odds</a:t>
            </a:r>
          </a:p>
          <a:p>
            <a:pPr fontAlgn="base"/>
            <a:r>
              <a:rPr lang="en-US" b="1" dirty="0"/>
              <a:t>No outliers</a:t>
            </a:r>
          </a:p>
          <a:p>
            <a:pPr fontAlgn="base"/>
            <a:r>
              <a:rPr lang="en-US" b="1" dirty="0"/>
              <a:t>Large sample size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027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E2C5-EEEC-4F80-4EF1-1B5C7BBD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of Logistic Regression – Spam or Not 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FAC5-D176-6D20-8CCA-D33E7934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GitHub - deepankarkotnala/Email-Spam-Ham-Classifier-NLP: Email Classifier ( Spam/Ham) using Natural Language Processing and Random Forest Classifier.">
            <a:extLst>
              <a:ext uri="{FF2B5EF4-FFF2-40B4-BE49-F238E27FC236}">
                <a16:creationId xmlns:a16="http://schemas.microsoft.com/office/drawing/2014/main" id="{A0819381-BBB8-832F-A2FC-7CA0C600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868" y="1880358"/>
            <a:ext cx="8926583" cy="445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81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BBFE-CBC1-ECE7-3890-6A3E4EE0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Logistic 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35A55-200B-971A-DFC3-FFA6AD33F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Very fast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Easy to implement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Requires less data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Highly interpretable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Gives probability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90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B105-C782-63AC-4A0D-9C12BAEE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E1FC-2DB7-D63E-2C6A-E898C2634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Logistic Regression in Machine Learning – </a:t>
            </a:r>
            <a:r>
              <a:rPr lang="en-US" dirty="0" err="1">
                <a:hlinkClick r:id="rId2"/>
              </a:rPr>
              <a:t>GeeksforGeeks</a:t>
            </a:r>
            <a:endParaRPr lang="en-US" dirty="0"/>
          </a:p>
          <a:p>
            <a:r>
              <a:rPr lang="en-US" dirty="0">
                <a:hlinkClick r:id="rId3"/>
              </a:rPr>
              <a:t>Logistic Regression in Machine Learning</a:t>
            </a:r>
            <a:endParaRPr lang="en-US" dirty="0"/>
          </a:p>
          <a:p>
            <a:r>
              <a:rPr lang="en-US" dirty="0">
                <a:hlinkClick r:id="rId4"/>
              </a:rPr>
              <a:t>A Gentle Introduction To Sigmoid Function - MachineLearningMastery.com</a:t>
            </a:r>
            <a:endParaRPr lang="en-US" dirty="0"/>
          </a:p>
          <a:p>
            <a:r>
              <a:rPr lang="en-IN" dirty="0">
                <a:highlight>
                  <a:srgbClr val="FFFF00"/>
                </a:highlight>
                <a:hlinkClick r:id="rId5"/>
              </a:rPr>
              <a:t>Logistic Regression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/>
              <a:t>(MLU-Explain)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41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471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Logistic Regression </vt:lpstr>
      <vt:lpstr>Introduction</vt:lpstr>
      <vt:lpstr>Understanding Sigmoid Function</vt:lpstr>
      <vt:lpstr>Mathematical representation of Sigmoid Activation Function</vt:lpstr>
      <vt:lpstr>Graph of Sigmoid Activation Function </vt:lpstr>
      <vt:lpstr>Properties of Sigmoid</vt:lpstr>
      <vt:lpstr>Working of Logistic Regression</vt:lpstr>
      <vt:lpstr>The Logistic Regression Model</vt:lpstr>
      <vt:lpstr>PowerPoint Presentation</vt:lpstr>
      <vt:lpstr>Types of Logistic Regression</vt:lpstr>
      <vt:lpstr>Assumptions of Logistic Regression</vt:lpstr>
      <vt:lpstr>Application of Logistic Regression – Spam or Not Spam</vt:lpstr>
      <vt:lpstr>Advantages of Logistic Regression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Vatekar</dc:creator>
  <cp:lastModifiedBy>Sushma Vatekar</cp:lastModifiedBy>
  <cp:revision>4</cp:revision>
  <dcterms:created xsi:type="dcterms:W3CDTF">2026-02-12T04:25:04Z</dcterms:created>
  <dcterms:modified xsi:type="dcterms:W3CDTF">2026-02-13T16:51:29Z</dcterms:modified>
</cp:coreProperties>
</file>