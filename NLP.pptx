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5" r:id="rId6"/>
    <p:sldId id="261" r:id="rId7"/>
    <p:sldId id="262" r:id="rId8"/>
    <p:sldId id="266" r:id="rId9"/>
    <p:sldId id="267" r:id="rId10"/>
    <p:sldId id="268" r:id="rId11"/>
    <p:sldId id="269" r:id="rId12"/>
    <p:sldId id="270" r:id="rId13"/>
    <p:sldId id="271" r:id="rId14"/>
    <p:sldId id="272" r:id="rId15"/>
    <p:sldId id="274" r:id="rId16"/>
    <p:sldId id="275" r:id="rId17"/>
    <p:sldId id="273" r:id="rId18"/>
    <p:sldId id="276" r:id="rId19"/>
    <p:sldId id="277" r:id="rId20"/>
    <p:sldId id="279" r:id="rId21"/>
    <p:sldId id="264" r:id="rId22"/>
    <p:sldId id="263" r:id="rId23"/>
    <p:sldId id="280" r:id="rId24"/>
    <p:sldId id="281" r:id="rId25"/>
    <p:sldId id="282"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5" d="100"/>
          <a:sy n="75" d="100"/>
        </p:scale>
        <p:origin x="874" y="4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5FD892F-D8C4-41D9-AF2E-EE5268D0B122}" type="doc">
      <dgm:prSet loTypeId="urn:microsoft.com/office/officeart/2005/8/layout/chevron1" loCatId="process" qsTypeId="urn:microsoft.com/office/officeart/2005/8/quickstyle/simple1" qsCatId="simple" csTypeId="urn:microsoft.com/office/officeart/2005/8/colors/colorful1" csCatId="colorful" phldr="1"/>
      <dgm:spPr/>
      <dgm:t>
        <a:bodyPr/>
        <a:lstStyle/>
        <a:p>
          <a:endParaRPr lang="en-IN"/>
        </a:p>
      </dgm:t>
    </dgm:pt>
    <dgm:pt modelId="{4A03EC06-0034-4958-A456-68FD453691AC}">
      <dgm:prSet phldrT="[Text]" phldr="0"/>
      <dgm:spPr/>
      <dgm:t>
        <a:bodyPr/>
        <a:lstStyle/>
        <a:p>
          <a:r>
            <a:rPr lang="en-IN" dirty="0"/>
            <a:t>Raw Text</a:t>
          </a:r>
        </a:p>
      </dgm:t>
    </dgm:pt>
    <dgm:pt modelId="{3F8C96E7-FFBB-456C-85C3-ACBE5B2A83F7}" type="parTrans" cxnId="{CD50A6CC-C245-4372-95CC-35A3574E99AD}">
      <dgm:prSet/>
      <dgm:spPr/>
      <dgm:t>
        <a:bodyPr/>
        <a:lstStyle/>
        <a:p>
          <a:endParaRPr lang="en-IN"/>
        </a:p>
      </dgm:t>
    </dgm:pt>
    <dgm:pt modelId="{52FE32FF-38E4-4CD4-958E-53F68C674F80}" type="sibTrans" cxnId="{CD50A6CC-C245-4372-95CC-35A3574E99AD}">
      <dgm:prSet/>
      <dgm:spPr/>
      <dgm:t>
        <a:bodyPr/>
        <a:lstStyle/>
        <a:p>
          <a:endParaRPr lang="en-IN"/>
        </a:p>
      </dgm:t>
    </dgm:pt>
    <dgm:pt modelId="{CD6784BD-174E-4190-9118-083E344F9083}">
      <dgm:prSet phldrT="[Text]" phldr="0"/>
      <dgm:spPr/>
      <dgm:t>
        <a:bodyPr/>
        <a:lstStyle/>
        <a:p>
          <a:r>
            <a:rPr lang="en-IN" dirty="0"/>
            <a:t>Preprocessing</a:t>
          </a:r>
        </a:p>
      </dgm:t>
    </dgm:pt>
    <dgm:pt modelId="{2FB61C3D-4CB7-4D75-8C63-2530614BA1D5}" type="parTrans" cxnId="{4FAA189B-35E4-471B-BF66-466272E2FC47}">
      <dgm:prSet/>
      <dgm:spPr/>
      <dgm:t>
        <a:bodyPr/>
        <a:lstStyle/>
        <a:p>
          <a:endParaRPr lang="en-IN"/>
        </a:p>
      </dgm:t>
    </dgm:pt>
    <dgm:pt modelId="{04558986-49FE-4E3E-ABC8-48CCD9BD463E}" type="sibTrans" cxnId="{4FAA189B-35E4-471B-BF66-466272E2FC47}">
      <dgm:prSet/>
      <dgm:spPr/>
      <dgm:t>
        <a:bodyPr/>
        <a:lstStyle/>
        <a:p>
          <a:endParaRPr lang="en-IN"/>
        </a:p>
      </dgm:t>
    </dgm:pt>
    <dgm:pt modelId="{A4B2513F-05C6-423D-BBF1-914FA6A33315}">
      <dgm:prSet phldrT="[Text]" phldr="0"/>
      <dgm:spPr/>
      <dgm:t>
        <a:bodyPr/>
        <a:lstStyle/>
        <a:p>
          <a:r>
            <a:rPr lang="en-IN" dirty="0"/>
            <a:t>Vectorization</a:t>
          </a:r>
        </a:p>
      </dgm:t>
    </dgm:pt>
    <dgm:pt modelId="{497EED0E-B5F0-4F9D-933C-273F534D75A1}" type="parTrans" cxnId="{CF4FB73E-78DD-4544-BA41-749237A73945}">
      <dgm:prSet/>
      <dgm:spPr/>
      <dgm:t>
        <a:bodyPr/>
        <a:lstStyle/>
        <a:p>
          <a:endParaRPr lang="en-IN"/>
        </a:p>
      </dgm:t>
    </dgm:pt>
    <dgm:pt modelId="{5C1D4592-1B4F-4282-98A6-0D0E1CBB5C60}" type="sibTrans" cxnId="{CF4FB73E-78DD-4544-BA41-749237A73945}">
      <dgm:prSet/>
      <dgm:spPr/>
      <dgm:t>
        <a:bodyPr/>
        <a:lstStyle/>
        <a:p>
          <a:endParaRPr lang="en-IN"/>
        </a:p>
      </dgm:t>
    </dgm:pt>
    <dgm:pt modelId="{B04DE6F6-6F76-4841-AB68-A0CBA6FC1AB0}">
      <dgm:prSet phldrT="[Text]" phldr="0"/>
      <dgm:spPr/>
      <dgm:t>
        <a:bodyPr/>
        <a:lstStyle/>
        <a:p>
          <a:r>
            <a:rPr lang="en-IN" dirty="0"/>
            <a:t>Model Training</a:t>
          </a:r>
        </a:p>
      </dgm:t>
    </dgm:pt>
    <dgm:pt modelId="{FFDB989F-E72B-46C3-A22B-35C44F8DA954}" type="parTrans" cxnId="{F75134C2-DC38-436F-AA3A-EE7E043B7BD9}">
      <dgm:prSet/>
      <dgm:spPr/>
      <dgm:t>
        <a:bodyPr/>
        <a:lstStyle/>
        <a:p>
          <a:endParaRPr lang="en-IN"/>
        </a:p>
      </dgm:t>
    </dgm:pt>
    <dgm:pt modelId="{81466598-AD33-4509-AFCF-0B9AE3DF24E3}" type="sibTrans" cxnId="{F75134C2-DC38-436F-AA3A-EE7E043B7BD9}">
      <dgm:prSet/>
      <dgm:spPr/>
      <dgm:t>
        <a:bodyPr/>
        <a:lstStyle/>
        <a:p>
          <a:endParaRPr lang="en-IN"/>
        </a:p>
      </dgm:t>
    </dgm:pt>
    <dgm:pt modelId="{56361FD0-AD09-4D1E-AC64-41A8172B0CC4}">
      <dgm:prSet phldrT="[Text]" phldr="0"/>
      <dgm:spPr/>
      <dgm:t>
        <a:bodyPr/>
        <a:lstStyle/>
        <a:p>
          <a:r>
            <a:rPr lang="en-IN" dirty="0"/>
            <a:t>Prediction </a:t>
          </a:r>
        </a:p>
      </dgm:t>
    </dgm:pt>
    <dgm:pt modelId="{03647EF5-B0A6-4CFD-8F87-4DA381512BE9}" type="parTrans" cxnId="{41035E1C-8F05-4784-B55B-7A3853B9723E}">
      <dgm:prSet/>
      <dgm:spPr/>
      <dgm:t>
        <a:bodyPr/>
        <a:lstStyle/>
        <a:p>
          <a:endParaRPr lang="en-IN"/>
        </a:p>
      </dgm:t>
    </dgm:pt>
    <dgm:pt modelId="{261A2DE0-7288-4D21-899D-A4AF9D1A5AD7}" type="sibTrans" cxnId="{41035E1C-8F05-4784-B55B-7A3853B9723E}">
      <dgm:prSet/>
      <dgm:spPr/>
      <dgm:t>
        <a:bodyPr/>
        <a:lstStyle/>
        <a:p>
          <a:endParaRPr lang="en-IN"/>
        </a:p>
      </dgm:t>
    </dgm:pt>
    <dgm:pt modelId="{DE244AEC-36DF-4AEC-977C-25BFA03A455F}">
      <dgm:prSet phldrT="[Text]" phldr="0"/>
      <dgm:spPr/>
      <dgm:t>
        <a:bodyPr/>
        <a:lstStyle/>
        <a:p>
          <a:r>
            <a:rPr lang="en-IN" dirty="0"/>
            <a:t>Evaluation</a:t>
          </a:r>
        </a:p>
      </dgm:t>
    </dgm:pt>
    <dgm:pt modelId="{CDF2CA13-80A7-4329-AF62-0CF976FA5005}" type="parTrans" cxnId="{F7813A39-9307-4E17-9623-FE7F4A171737}">
      <dgm:prSet/>
      <dgm:spPr/>
      <dgm:t>
        <a:bodyPr/>
        <a:lstStyle/>
        <a:p>
          <a:endParaRPr lang="en-IN"/>
        </a:p>
      </dgm:t>
    </dgm:pt>
    <dgm:pt modelId="{EFC5B9CE-D070-43E4-8F1B-B6C020C3A9F3}" type="sibTrans" cxnId="{F7813A39-9307-4E17-9623-FE7F4A171737}">
      <dgm:prSet/>
      <dgm:spPr/>
      <dgm:t>
        <a:bodyPr/>
        <a:lstStyle/>
        <a:p>
          <a:endParaRPr lang="en-IN"/>
        </a:p>
      </dgm:t>
    </dgm:pt>
    <dgm:pt modelId="{7081B094-CFDE-473C-A489-04BFDDE03094}">
      <dgm:prSet phldrT="[Text]" phldr="0"/>
      <dgm:spPr/>
      <dgm:t>
        <a:bodyPr/>
        <a:lstStyle/>
        <a:p>
          <a:r>
            <a:rPr lang="en-IN" dirty="0"/>
            <a:t>Deployment</a:t>
          </a:r>
        </a:p>
      </dgm:t>
    </dgm:pt>
    <dgm:pt modelId="{DE250A81-827A-407F-888C-53A43D95F9D7}" type="parTrans" cxnId="{D140B892-4233-451B-8F99-3DC07F3F0320}">
      <dgm:prSet/>
      <dgm:spPr/>
      <dgm:t>
        <a:bodyPr/>
        <a:lstStyle/>
        <a:p>
          <a:endParaRPr lang="en-IN"/>
        </a:p>
      </dgm:t>
    </dgm:pt>
    <dgm:pt modelId="{FA0D7B7F-16EE-4F35-8DF1-0897CEFD48D0}" type="sibTrans" cxnId="{D140B892-4233-451B-8F99-3DC07F3F0320}">
      <dgm:prSet/>
      <dgm:spPr/>
      <dgm:t>
        <a:bodyPr/>
        <a:lstStyle/>
        <a:p>
          <a:endParaRPr lang="en-IN"/>
        </a:p>
      </dgm:t>
    </dgm:pt>
    <dgm:pt modelId="{5EB53B5B-A72F-4D33-904E-FD1A6F6BCDB2}" type="pres">
      <dgm:prSet presAssocID="{05FD892F-D8C4-41D9-AF2E-EE5268D0B122}" presName="Name0" presStyleCnt="0">
        <dgm:presLayoutVars>
          <dgm:dir/>
          <dgm:animLvl val="lvl"/>
          <dgm:resizeHandles val="exact"/>
        </dgm:presLayoutVars>
      </dgm:prSet>
      <dgm:spPr/>
    </dgm:pt>
    <dgm:pt modelId="{376A918C-6096-42C8-8EFF-C97CF1782885}" type="pres">
      <dgm:prSet presAssocID="{4A03EC06-0034-4958-A456-68FD453691AC}" presName="parTxOnly" presStyleLbl="node1" presStyleIdx="0" presStyleCnt="7">
        <dgm:presLayoutVars>
          <dgm:chMax val="0"/>
          <dgm:chPref val="0"/>
          <dgm:bulletEnabled val="1"/>
        </dgm:presLayoutVars>
      </dgm:prSet>
      <dgm:spPr/>
    </dgm:pt>
    <dgm:pt modelId="{6B8CB640-298D-424D-A18D-276606076F81}" type="pres">
      <dgm:prSet presAssocID="{52FE32FF-38E4-4CD4-958E-53F68C674F80}" presName="parTxOnlySpace" presStyleCnt="0"/>
      <dgm:spPr/>
    </dgm:pt>
    <dgm:pt modelId="{80B504D9-5391-4AA3-9868-7386B671D40A}" type="pres">
      <dgm:prSet presAssocID="{CD6784BD-174E-4190-9118-083E344F9083}" presName="parTxOnly" presStyleLbl="node1" presStyleIdx="1" presStyleCnt="7">
        <dgm:presLayoutVars>
          <dgm:chMax val="0"/>
          <dgm:chPref val="0"/>
          <dgm:bulletEnabled val="1"/>
        </dgm:presLayoutVars>
      </dgm:prSet>
      <dgm:spPr/>
    </dgm:pt>
    <dgm:pt modelId="{B99DE8CF-B73F-413A-983C-9150E06FE0E0}" type="pres">
      <dgm:prSet presAssocID="{04558986-49FE-4E3E-ABC8-48CCD9BD463E}" presName="parTxOnlySpace" presStyleCnt="0"/>
      <dgm:spPr/>
    </dgm:pt>
    <dgm:pt modelId="{6E205968-29F9-4840-B60E-6791C9AE6E77}" type="pres">
      <dgm:prSet presAssocID="{A4B2513F-05C6-423D-BBF1-914FA6A33315}" presName="parTxOnly" presStyleLbl="node1" presStyleIdx="2" presStyleCnt="7">
        <dgm:presLayoutVars>
          <dgm:chMax val="0"/>
          <dgm:chPref val="0"/>
          <dgm:bulletEnabled val="1"/>
        </dgm:presLayoutVars>
      </dgm:prSet>
      <dgm:spPr/>
    </dgm:pt>
    <dgm:pt modelId="{39D2C761-84F0-4BA5-9409-E36A36A73568}" type="pres">
      <dgm:prSet presAssocID="{5C1D4592-1B4F-4282-98A6-0D0E1CBB5C60}" presName="parTxOnlySpace" presStyleCnt="0"/>
      <dgm:spPr/>
    </dgm:pt>
    <dgm:pt modelId="{954A1939-0F7E-403C-A148-EAC0C1AC2DED}" type="pres">
      <dgm:prSet presAssocID="{B04DE6F6-6F76-4841-AB68-A0CBA6FC1AB0}" presName="parTxOnly" presStyleLbl="node1" presStyleIdx="3" presStyleCnt="7">
        <dgm:presLayoutVars>
          <dgm:chMax val="0"/>
          <dgm:chPref val="0"/>
          <dgm:bulletEnabled val="1"/>
        </dgm:presLayoutVars>
      </dgm:prSet>
      <dgm:spPr/>
    </dgm:pt>
    <dgm:pt modelId="{47A73F39-B85E-4F73-BC61-ACDAB6FEF932}" type="pres">
      <dgm:prSet presAssocID="{81466598-AD33-4509-AFCF-0B9AE3DF24E3}" presName="parTxOnlySpace" presStyleCnt="0"/>
      <dgm:spPr/>
    </dgm:pt>
    <dgm:pt modelId="{011A17B2-DA70-446D-8B0F-119C12616E5D}" type="pres">
      <dgm:prSet presAssocID="{56361FD0-AD09-4D1E-AC64-41A8172B0CC4}" presName="parTxOnly" presStyleLbl="node1" presStyleIdx="4" presStyleCnt="7">
        <dgm:presLayoutVars>
          <dgm:chMax val="0"/>
          <dgm:chPref val="0"/>
          <dgm:bulletEnabled val="1"/>
        </dgm:presLayoutVars>
      </dgm:prSet>
      <dgm:spPr/>
    </dgm:pt>
    <dgm:pt modelId="{A6E528FD-D8F4-40BC-B507-8230AC9D695B}" type="pres">
      <dgm:prSet presAssocID="{261A2DE0-7288-4D21-899D-A4AF9D1A5AD7}" presName="parTxOnlySpace" presStyleCnt="0"/>
      <dgm:spPr/>
    </dgm:pt>
    <dgm:pt modelId="{D1CB36FF-4650-41C3-8502-E591D41C0751}" type="pres">
      <dgm:prSet presAssocID="{DE244AEC-36DF-4AEC-977C-25BFA03A455F}" presName="parTxOnly" presStyleLbl="node1" presStyleIdx="5" presStyleCnt="7">
        <dgm:presLayoutVars>
          <dgm:chMax val="0"/>
          <dgm:chPref val="0"/>
          <dgm:bulletEnabled val="1"/>
        </dgm:presLayoutVars>
      </dgm:prSet>
      <dgm:spPr/>
    </dgm:pt>
    <dgm:pt modelId="{0B4C31BE-C232-4ABC-A853-0BB77A7296A0}" type="pres">
      <dgm:prSet presAssocID="{EFC5B9CE-D070-43E4-8F1B-B6C020C3A9F3}" presName="parTxOnlySpace" presStyleCnt="0"/>
      <dgm:spPr/>
    </dgm:pt>
    <dgm:pt modelId="{946952ED-DC18-4C78-82BC-C23BC8DBD2A7}" type="pres">
      <dgm:prSet presAssocID="{7081B094-CFDE-473C-A489-04BFDDE03094}" presName="parTxOnly" presStyleLbl="node1" presStyleIdx="6" presStyleCnt="7">
        <dgm:presLayoutVars>
          <dgm:chMax val="0"/>
          <dgm:chPref val="0"/>
          <dgm:bulletEnabled val="1"/>
        </dgm:presLayoutVars>
      </dgm:prSet>
      <dgm:spPr/>
    </dgm:pt>
  </dgm:ptLst>
  <dgm:cxnLst>
    <dgm:cxn modelId="{41035E1C-8F05-4784-B55B-7A3853B9723E}" srcId="{05FD892F-D8C4-41D9-AF2E-EE5268D0B122}" destId="{56361FD0-AD09-4D1E-AC64-41A8172B0CC4}" srcOrd="4" destOrd="0" parTransId="{03647EF5-B0A6-4CFD-8F87-4DA381512BE9}" sibTransId="{261A2DE0-7288-4D21-899D-A4AF9D1A5AD7}"/>
    <dgm:cxn modelId="{BE800426-103F-4511-8734-38FD7B8E8274}" type="presOf" srcId="{05FD892F-D8C4-41D9-AF2E-EE5268D0B122}" destId="{5EB53B5B-A72F-4D33-904E-FD1A6F6BCDB2}" srcOrd="0" destOrd="0" presId="urn:microsoft.com/office/officeart/2005/8/layout/chevron1"/>
    <dgm:cxn modelId="{F7813A39-9307-4E17-9623-FE7F4A171737}" srcId="{05FD892F-D8C4-41D9-AF2E-EE5268D0B122}" destId="{DE244AEC-36DF-4AEC-977C-25BFA03A455F}" srcOrd="5" destOrd="0" parTransId="{CDF2CA13-80A7-4329-AF62-0CF976FA5005}" sibTransId="{EFC5B9CE-D070-43E4-8F1B-B6C020C3A9F3}"/>
    <dgm:cxn modelId="{C092343A-8D80-415E-9C17-646B4559E0C2}" type="presOf" srcId="{B04DE6F6-6F76-4841-AB68-A0CBA6FC1AB0}" destId="{954A1939-0F7E-403C-A148-EAC0C1AC2DED}" srcOrd="0" destOrd="0" presId="urn:microsoft.com/office/officeart/2005/8/layout/chevron1"/>
    <dgm:cxn modelId="{CF4FB73E-78DD-4544-BA41-749237A73945}" srcId="{05FD892F-D8C4-41D9-AF2E-EE5268D0B122}" destId="{A4B2513F-05C6-423D-BBF1-914FA6A33315}" srcOrd="2" destOrd="0" parTransId="{497EED0E-B5F0-4F9D-933C-273F534D75A1}" sibTransId="{5C1D4592-1B4F-4282-98A6-0D0E1CBB5C60}"/>
    <dgm:cxn modelId="{95523467-C4B5-4FED-AD79-CC0A59BFE3A1}" type="presOf" srcId="{56361FD0-AD09-4D1E-AC64-41A8172B0CC4}" destId="{011A17B2-DA70-446D-8B0F-119C12616E5D}" srcOrd="0" destOrd="0" presId="urn:microsoft.com/office/officeart/2005/8/layout/chevron1"/>
    <dgm:cxn modelId="{8C06FF80-07EF-49F1-BE3E-DDCB88B775BB}" type="presOf" srcId="{DE244AEC-36DF-4AEC-977C-25BFA03A455F}" destId="{D1CB36FF-4650-41C3-8502-E591D41C0751}" srcOrd="0" destOrd="0" presId="urn:microsoft.com/office/officeart/2005/8/layout/chevron1"/>
    <dgm:cxn modelId="{E57CF690-875A-48EF-A7C9-B9D4D0F55597}" type="presOf" srcId="{4A03EC06-0034-4958-A456-68FD453691AC}" destId="{376A918C-6096-42C8-8EFF-C97CF1782885}" srcOrd="0" destOrd="0" presId="urn:microsoft.com/office/officeart/2005/8/layout/chevron1"/>
    <dgm:cxn modelId="{D140B892-4233-451B-8F99-3DC07F3F0320}" srcId="{05FD892F-D8C4-41D9-AF2E-EE5268D0B122}" destId="{7081B094-CFDE-473C-A489-04BFDDE03094}" srcOrd="6" destOrd="0" parTransId="{DE250A81-827A-407F-888C-53A43D95F9D7}" sibTransId="{FA0D7B7F-16EE-4F35-8DF1-0897CEFD48D0}"/>
    <dgm:cxn modelId="{4FAA189B-35E4-471B-BF66-466272E2FC47}" srcId="{05FD892F-D8C4-41D9-AF2E-EE5268D0B122}" destId="{CD6784BD-174E-4190-9118-083E344F9083}" srcOrd="1" destOrd="0" parTransId="{2FB61C3D-4CB7-4D75-8C63-2530614BA1D5}" sibTransId="{04558986-49FE-4E3E-ABC8-48CCD9BD463E}"/>
    <dgm:cxn modelId="{F75134C2-DC38-436F-AA3A-EE7E043B7BD9}" srcId="{05FD892F-D8C4-41D9-AF2E-EE5268D0B122}" destId="{B04DE6F6-6F76-4841-AB68-A0CBA6FC1AB0}" srcOrd="3" destOrd="0" parTransId="{FFDB989F-E72B-46C3-A22B-35C44F8DA954}" sibTransId="{81466598-AD33-4509-AFCF-0B9AE3DF24E3}"/>
    <dgm:cxn modelId="{32E097CC-6176-489F-8993-F2CD05E993BE}" type="presOf" srcId="{7081B094-CFDE-473C-A489-04BFDDE03094}" destId="{946952ED-DC18-4C78-82BC-C23BC8DBD2A7}" srcOrd="0" destOrd="0" presId="urn:microsoft.com/office/officeart/2005/8/layout/chevron1"/>
    <dgm:cxn modelId="{CD50A6CC-C245-4372-95CC-35A3574E99AD}" srcId="{05FD892F-D8C4-41D9-AF2E-EE5268D0B122}" destId="{4A03EC06-0034-4958-A456-68FD453691AC}" srcOrd="0" destOrd="0" parTransId="{3F8C96E7-FFBB-456C-85C3-ACBE5B2A83F7}" sibTransId="{52FE32FF-38E4-4CD4-958E-53F68C674F80}"/>
    <dgm:cxn modelId="{2208CEE5-1F6F-45B8-82CB-B4FB15B82CBE}" type="presOf" srcId="{A4B2513F-05C6-423D-BBF1-914FA6A33315}" destId="{6E205968-29F9-4840-B60E-6791C9AE6E77}" srcOrd="0" destOrd="0" presId="urn:microsoft.com/office/officeart/2005/8/layout/chevron1"/>
    <dgm:cxn modelId="{8616F5FB-F9CD-4405-8F92-731AA59C7457}" type="presOf" srcId="{CD6784BD-174E-4190-9118-083E344F9083}" destId="{80B504D9-5391-4AA3-9868-7386B671D40A}" srcOrd="0" destOrd="0" presId="urn:microsoft.com/office/officeart/2005/8/layout/chevron1"/>
    <dgm:cxn modelId="{3A942DF5-9BDF-4931-A165-570546C06955}" type="presParOf" srcId="{5EB53B5B-A72F-4D33-904E-FD1A6F6BCDB2}" destId="{376A918C-6096-42C8-8EFF-C97CF1782885}" srcOrd="0" destOrd="0" presId="urn:microsoft.com/office/officeart/2005/8/layout/chevron1"/>
    <dgm:cxn modelId="{E9E7175D-5D4E-429D-8601-9EAFDD200D4C}" type="presParOf" srcId="{5EB53B5B-A72F-4D33-904E-FD1A6F6BCDB2}" destId="{6B8CB640-298D-424D-A18D-276606076F81}" srcOrd="1" destOrd="0" presId="urn:microsoft.com/office/officeart/2005/8/layout/chevron1"/>
    <dgm:cxn modelId="{4A968C0F-AB14-47C2-8F4B-49B95172FF62}" type="presParOf" srcId="{5EB53B5B-A72F-4D33-904E-FD1A6F6BCDB2}" destId="{80B504D9-5391-4AA3-9868-7386B671D40A}" srcOrd="2" destOrd="0" presId="urn:microsoft.com/office/officeart/2005/8/layout/chevron1"/>
    <dgm:cxn modelId="{8CC86810-B507-4697-8137-DE33B23FEA0A}" type="presParOf" srcId="{5EB53B5B-A72F-4D33-904E-FD1A6F6BCDB2}" destId="{B99DE8CF-B73F-413A-983C-9150E06FE0E0}" srcOrd="3" destOrd="0" presId="urn:microsoft.com/office/officeart/2005/8/layout/chevron1"/>
    <dgm:cxn modelId="{250662F5-09B9-4355-9E96-4444FEECE603}" type="presParOf" srcId="{5EB53B5B-A72F-4D33-904E-FD1A6F6BCDB2}" destId="{6E205968-29F9-4840-B60E-6791C9AE6E77}" srcOrd="4" destOrd="0" presId="urn:microsoft.com/office/officeart/2005/8/layout/chevron1"/>
    <dgm:cxn modelId="{5CA414E9-884D-456E-9AEB-80BE04BDC62F}" type="presParOf" srcId="{5EB53B5B-A72F-4D33-904E-FD1A6F6BCDB2}" destId="{39D2C761-84F0-4BA5-9409-E36A36A73568}" srcOrd="5" destOrd="0" presId="urn:microsoft.com/office/officeart/2005/8/layout/chevron1"/>
    <dgm:cxn modelId="{FCF3F347-1E8C-4DD4-8996-19694BECB8D0}" type="presParOf" srcId="{5EB53B5B-A72F-4D33-904E-FD1A6F6BCDB2}" destId="{954A1939-0F7E-403C-A148-EAC0C1AC2DED}" srcOrd="6" destOrd="0" presId="urn:microsoft.com/office/officeart/2005/8/layout/chevron1"/>
    <dgm:cxn modelId="{DE4BF590-A22F-4791-8126-78F6E33323B7}" type="presParOf" srcId="{5EB53B5B-A72F-4D33-904E-FD1A6F6BCDB2}" destId="{47A73F39-B85E-4F73-BC61-ACDAB6FEF932}" srcOrd="7" destOrd="0" presId="urn:microsoft.com/office/officeart/2005/8/layout/chevron1"/>
    <dgm:cxn modelId="{29063C07-5E69-43CF-A379-358299D22083}" type="presParOf" srcId="{5EB53B5B-A72F-4D33-904E-FD1A6F6BCDB2}" destId="{011A17B2-DA70-446D-8B0F-119C12616E5D}" srcOrd="8" destOrd="0" presId="urn:microsoft.com/office/officeart/2005/8/layout/chevron1"/>
    <dgm:cxn modelId="{088D7BD7-E2EF-475A-8919-775F542EB55E}" type="presParOf" srcId="{5EB53B5B-A72F-4D33-904E-FD1A6F6BCDB2}" destId="{A6E528FD-D8F4-40BC-B507-8230AC9D695B}" srcOrd="9" destOrd="0" presId="urn:microsoft.com/office/officeart/2005/8/layout/chevron1"/>
    <dgm:cxn modelId="{21E839E3-E1D7-4B08-9B3E-1ECBBE8D31E7}" type="presParOf" srcId="{5EB53B5B-A72F-4D33-904E-FD1A6F6BCDB2}" destId="{D1CB36FF-4650-41C3-8502-E591D41C0751}" srcOrd="10" destOrd="0" presId="urn:microsoft.com/office/officeart/2005/8/layout/chevron1"/>
    <dgm:cxn modelId="{B985272F-BF78-429B-9BBC-C562C881DEDB}" type="presParOf" srcId="{5EB53B5B-A72F-4D33-904E-FD1A6F6BCDB2}" destId="{0B4C31BE-C232-4ABC-A853-0BB77A7296A0}" srcOrd="11" destOrd="0" presId="urn:microsoft.com/office/officeart/2005/8/layout/chevron1"/>
    <dgm:cxn modelId="{404114BD-E907-448B-A560-8650EBBD1462}" type="presParOf" srcId="{5EB53B5B-A72F-4D33-904E-FD1A6F6BCDB2}" destId="{946952ED-DC18-4C78-82BC-C23BC8DBD2A7}" srcOrd="12" destOrd="0" presId="urn:microsoft.com/office/officeart/2005/8/layout/chevron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76A918C-6096-42C8-8EFF-C97CF1782885}">
      <dsp:nvSpPr>
        <dsp:cNvPr id="0" name=""/>
        <dsp:cNvSpPr/>
      </dsp:nvSpPr>
      <dsp:spPr>
        <a:xfrm>
          <a:off x="0" y="2431309"/>
          <a:ext cx="1766887" cy="706754"/>
        </a:xfrm>
        <a:prstGeom prst="chevron">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2007" tIns="17336" rIns="17336" bIns="17336" numCol="1" spcCol="1270" anchor="ctr" anchorCtr="0">
          <a:noAutofit/>
        </a:bodyPr>
        <a:lstStyle/>
        <a:p>
          <a:pPr marL="0" lvl="0" indent="0" algn="ctr" defTabSz="577850">
            <a:lnSpc>
              <a:spcPct val="90000"/>
            </a:lnSpc>
            <a:spcBef>
              <a:spcPct val="0"/>
            </a:spcBef>
            <a:spcAft>
              <a:spcPct val="35000"/>
            </a:spcAft>
            <a:buNone/>
          </a:pPr>
          <a:r>
            <a:rPr lang="en-IN" sz="1300" kern="1200" dirty="0"/>
            <a:t>Raw Text</a:t>
          </a:r>
        </a:p>
      </dsp:txBody>
      <dsp:txXfrm>
        <a:off x="353377" y="2431309"/>
        <a:ext cx="1060133" cy="706754"/>
      </dsp:txXfrm>
    </dsp:sp>
    <dsp:sp modelId="{80B504D9-5391-4AA3-9868-7386B671D40A}">
      <dsp:nvSpPr>
        <dsp:cNvPr id="0" name=""/>
        <dsp:cNvSpPr/>
      </dsp:nvSpPr>
      <dsp:spPr>
        <a:xfrm>
          <a:off x="1590198" y="2431309"/>
          <a:ext cx="1766887" cy="706754"/>
        </a:xfrm>
        <a:prstGeom prst="chevron">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2007" tIns="17336" rIns="17336" bIns="17336" numCol="1" spcCol="1270" anchor="ctr" anchorCtr="0">
          <a:noAutofit/>
        </a:bodyPr>
        <a:lstStyle/>
        <a:p>
          <a:pPr marL="0" lvl="0" indent="0" algn="ctr" defTabSz="577850">
            <a:lnSpc>
              <a:spcPct val="90000"/>
            </a:lnSpc>
            <a:spcBef>
              <a:spcPct val="0"/>
            </a:spcBef>
            <a:spcAft>
              <a:spcPct val="35000"/>
            </a:spcAft>
            <a:buNone/>
          </a:pPr>
          <a:r>
            <a:rPr lang="en-IN" sz="1300" kern="1200" dirty="0"/>
            <a:t>Preprocessing</a:t>
          </a:r>
        </a:p>
      </dsp:txBody>
      <dsp:txXfrm>
        <a:off x="1943575" y="2431309"/>
        <a:ext cx="1060133" cy="706754"/>
      </dsp:txXfrm>
    </dsp:sp>
    <dsp:sp modelId="{6E205968-29F9-4840-B60E-6791C9AE6E77}">
      <dsp:nvSpPr>
        <dsp:cNvPr id="0" name=""/>
        <dsp:cNvSpPr/>
      </dsp:nvSpPr>
      <dsp:spPr>
        <a:xfrm>
          <a:off x="3180397" y="2431309"/>
          <a:ext cx="1766887" cy="706754"/>
        </a:xfrm>
        <a:prstGeom prst="chevron">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2007" tIns="17336" rIns="17336" bIns="17336" numCol="1" spcCol="1270" anchor="ctr" anchorCtr="0">
          <a:noAutofit/>
        </a:bodyPr>
        <a:lstStyle/>
        <a:p>
          <a:pPr marL="0" lvl="0" indent="0" algn="ctr" defTabSz="577850">
            <a:lnSpc>
              <a:spcPct val="90000"/>
            </a:lnSpc>
            <a:spcBef>
              <a:spcPct val="0"/>
            </a:spcBef>
            <a:spcAft>
              <a:spcPct val="35000"/>
            </a:spcAft>
            <a:buNone/>
          </a:pPr>
          <a:r>
            <a:rPr lang="en-IN" sz="1300" kern="1200" dirty="0"/>
            <a:t>Vectorization</a:t>
          </a:r>
        </a:p>
      </dsp:txBody>
      <dsp:txXfrm>
        <a:off x="3533774" y="2431309"/>
        <a:ext cx="1060133" cy="706754"/>
      </dsp:txXfrm>
    </dsp:sp>
    <dsp:sp modelId="{954A1939-0F7E-403C-A148-EAC0C1AC2DED}">
      <dsp:nvSpPr>
        <dsp:cNvPr id="0" name=""/>
        <dsp:cNvSpPr/>
      </dsp:nvSpPr>
      <dsp:spPr>
        <a:xfrm>
          <a:off x="4770596" y="2431309"/>
          <a:ext cx="1766887" cy="706754"/>
        </a:xfrm>
        <a:prstGeom prst="chevron">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2007" tIns="17336" rIns="17336" bIns="17336" numCol="1" spcCol="1270" anchor="ctr" anchorCtr="0">
          <a:noAutofit/>
        </a:bodyPr>
        <a:lstStyle/>
        <a:p>
          <a:pPr marL="0" lvl="0" indent="0" algn="ctr" defTabSz="577850">
            <a:lnSpc>
              <a:spcPct val="90000"/>
            </a:lnSpc>
            <a:spcBef>
              <a:spcPct val="0"/>
            </a:spcBef>
            <a:spcAft>
              <a:spcPct val="35000"/>
            </a:spcAft>
            <a:buNone/>
          </a:pPr>
          <a:r>
            <a:rPr lang="en-IN" sz="1300" kern="1200" dirty="0"/>
            <a:t>Model Training</a:t>
          </a:r>
        </a:p>
      </dsp:txBody>
      <dsp:txXfrm>
        <a:off x="5123973" y="2431309"/>
        <a:ext cx="1060133" cy="706754"/>
      </dsp:txXfrm>
    </dsp:sp>
    <dsp:sp modelId="{011A17B2-DA70-446D-8B0F-119C12616E5D}">
      <dsp:nvSpPr>
        <dsp:cNvPr id="0" name=""/>
        <dsp:cNvSpPr/>
      </dsp:nvSpPr>
      <dsp:spPr>
        <a:xfrm>
          <a:off x="6360795" y="2431309"/>
          <a:ext cx="1766887" cy="706754"/>
        </a:xfrm>
        <a:prstGeom prst="chevron">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2007" tIns="17336" rIns="17336" bIns="17336" numCol="1" spcCol="1270" anchor="ctr" anchorCtr="0">
          <a:noAutofit/>
        </a:bodyPr>
        <a:lstStyle/>
        <a:p>
          <a:pPr marL="0" lvl="0" indent="0" algn="ctr" defTabSz="577850">
            <a:lnSpc>
              <a:spcPct val="90000"/>
            </a:lnSpc>
            <a:spcBef>
              <a:spcPct val="0"/>
            </a:spcBef>
            <a:spcAft>
              <a:spcPct val="35000"/>
            </a:spcAft>
            <a:buNone/>
          </a:pPr>
          <a:r>
            <a:rPr lang="en-IN" sz="1300" kern="1200" dirty="0"/>
            <a:t>Prediction </a:t>
          </a:r>
        </a:p>
      </dsp:txBody>
      <dsp:txXfrm>
        <a:off x="6714172" y="2431309"/>
        <a:ext cx="1060133" cy="706754"/>
      </dsp:txXfrm>
    </dsp:sp>
    <dsp:sp modelId="{D1CB36FF-4650-41C3-8502-E591D41C0751}">
      <dsp:nvSpPr>
        <dsp:cNvPr id="0" name=""/>
        <dsp:cNvSpPr/>
      </dsp:nvSpPr>
      <dsp:spPr>
        <a:xfrm>
          <a:off x="7950993" y="2431309"/>
          <a:ext cx="1766887" cy="706754"/>
        </a:xfrm>
        <a:prstGeom prst="chevron">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2007" tIns="17336" rIns="17336" bIns="17336" numCol="1" spcCol="1270" anchor="ctr" anchorCtr="0">
          <a:noAutofit/>
        </a:bodyPr>
        <a:lstStyle/>
        <a:p>
          <a:pPr marL="0" lvl="0" indent="0" algn="ctr" defTabSz="577850">
            <a:lnSpc>
              <a:spcPct val="90000"/>
            </a:lnSpc>
            <a:spcBef>
              <a:spcPct val="0"/>
            </a:spcBef>
            <a:spcAft>
              <a:spcPct val="35000"/>
            </a:spcAft>
            <a:buNone/>
          </a:pPr>
          <a:r>
            <a:rPr lang="en-IN" sz="1300" kern="1200" dirty="0"/>
            <a:t>Evaluation</a:t>
          </a:r>
        </a:p>
      </dsp:txBody>
      <dsp:txXfrm>
        <a:off x="8304370" y="2431309"/>
        <a:ext cx="1060133" cy="706754"/>
      </dsp:txXfrm>
    </dsp:sp>
    <dsp:sp modelId="{946952ED-DC18-4C78-82BC-C23BC8DBD2A7}">
      <dsp:nvSpPr>
        <dsp:cNvPr id="0" name=""/>
        <dsp:cNvSpPr/>
      </dsp:nvSpPr>
      <dsp:spPr>
        <a:xfrm>
          <a:off x="9541192" y="2431309"/>
          <a:ext cx="1766887" cy="706754"/>
        </a:xfrm>
        <a:prstGeom prst="chevron">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2007" tIns="17336" rIns="17336" bIns="17336" numCol="1" spcCol="1270" anchor="ctr" anchorCtr="0">
          <a:noAutofit/>
        </a:bodyPr>
        <a:lstStyle/>
        <a:p>
          <a:pPr marL="0" lvl="0" indent="0" algn="ctr" defTabSz="577850">
            <a:lnSpc>
              <a:spcPct val="90000"/>
            </a:lnSpc>
            <a:spcBef>
              <a:spcPct val="0"/>
            </a:spcBef>
            <a:spcAft>
              <a:spcPct val="35000"/>
            </a:spcAft>
            <a:buNone/>
          </a:pPr>
          <a:r>
            <a:rPr lang="en-IN" sz="1300" kern="1200" dirty="0"/>
            <a:t>Deployment</a:t>
          </a:r>
        </a:p>
      </dsp:txBody>
      <dsp:txXfrm>
        <a:off x="9894569" y="2431309"/>
        <a:ext cx="1060133" cy="706754"/>
      </dsp:txXfrm>
    </dsp:sp>
  </dsp:spTree>
</dsp:drawing>
</file>

<file path=ppt/diagrams/layout1.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5CC5D5-E7AA-61A7-78F7-1A82553E07C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3441F2A0-41F3-2B15-3D2E-C620FDCE5E4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C82D53DA-3EC5-7779-6A96-26B9866F500E}"/>
              </a:ext>
            </a:extLst>
          </p:cNvPr>
          <p:cNvSpPr>
            <a:spLocks noGrp="1"/>
          </p:cNvSpPr>
          <p:nvPr>
            <p:ph type="dt" sz="half" idx="10"/>
          </p:nvPr>
        </p:nvSpPr>
        <p:spPr/>
        <p:txBody>
          <a:bodyPr/>
          <a:lstStyle/>
          <a:p>
            <a:fld id="{BE280279-FC29-4196-9856-45B913228B0B}" type="datetimeFigureOut">
              <a:rPr lang="en-IN" smtClean="0"/>
              <a:t>20-11-2025</a:t>
            </a:fld>
            <a:endParaRPr lang="en-IN"/>
          </a:p>
        </p:txBody>
      </p:sp>
      <p:sp>
        <p:nvSpPr>
          <p:cNvPr id="5" name="Footer Placeholder 4">
            <a:extLst>
              <a:ext uri="{FF2B5EF4-FFF2-40B4-BE49-F238E27FC236}">
                <a16:creationId xmlns:a16="http://schemas.microsoft.com/office/drawing/2014/main" id="{1172B728-2F55-F951-778E-4B018DAA418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71EC6A3-A340-6232-A6C8-BD3B0A1CC5CE}"/>
              </a:ext>
            </a:extLst>
          </p:cNvPr>
          <p:cNvSpPr>
            <a:spLocks noGrp="1"/>
          </p:cNvSpPr>
          <p:nvPr>
            <p:ph type="sldNum" sz="quarter" idx="12"/>
          </p:nvPr>
        </p:nvSpPr>
        <p:spPr/>
        <p:txBody>
          <a:bodyPr/>
          <a:lstStyle/>
          <a:p>
            <a:fld id="{C800614B-F3B2-40ED-BA0A-992CBF814426}" type="slidenum">
              <a:rPr lang="en-IN" smtClean="0"/>
              <a:t>‹#›</a:t>
            </a:fld>
            <a:endParaRPr lang="en-IN"/>
          </a:p>
        </p:txBody>
      </p:sp>
    </p:spTree>
    <p:extLst>
      <p:ext uri="{BB962C8B-B14F-4D97-AF65-F5344CB8AC3E}">
        <p14:creationId xmlns:p14="http://schemas.microsoft.com/office/powerpoint/2010/main" val="4205017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BFA433-327D-069F-EC1A-069D9B1A80A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32E0FB8-2099-C5A5-B06C-C4935BC5E19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3C4A8E1-5A75-7B71-8581-0F2B5BCF80BB}"/>
              </a:ext>
            </a:extLst>
          </p:cNvPr>
          <p:cNvSpPr>
            <a:spLocks noGrp="1"/>
          </p:cNvSpPr>
          <p:nvPr>
            <p:ph type="dt" sz="half" idx="10"/>
          </p:nvPr>
        </p:nvSpPr>
        <p:spPr/>
        <p:txBody>
          <a:bodyPr/>
          <a:lstStyle/>
          <a:p>
            <a:fld id="{BE280279-FC29-4196-9856-45B913228B0B}" type="datetimeFigureOut">
              <a:rPr lang="en-IN" smtClean="0"/>
              <a:t>20-11-2025</a:t>
            </a:fld>
            <a:endParaRPr lang="en-IN"/>
          </a:p>
        </p:txBody>
      </p:sp>
      <p:sp>
        <p:nvSpPr>
          <p:cNvPr id="5" name="Footer Placeholder 4">
            <a:extLst>
              <a:ext uri="{FF2B5EF4-FFF2-40B4-BE49-F238E27FC236}">
                <a16:creationId xmlns:a16="http://schemas.microsoft.com/office/drawing/2014/main" id="{F952662A-1C34-3ED4-6707-5FEA09D38BF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671E068-01F7-2882-34A4-D8B224C72D5F}"/>
              </a:ext>
            </a:extLst>
          </p:cNvPr>
          <p:cNvSpPr>
            <a:spLocks noGrp="1"/>
          </p:cNvSpPr>
          <p:nvPr>
            <p:ph type="sldNum" sz="quarter" idx="12"/>
          </p:nvPr>
        </p:nvSpPr>
        <p:spPr/>
        <p:txBody>
          <a:bodyPr/>
          <a:lstStyle/>
          <a:p>
            <a:fld id="{C800614B-F3B2-40ED-BA0A-992CBF814426}" type="slidenum">
              <a:rPr lang="en-IN" smtClean="0"/>
              <a:t>‹#›</a:t>
            </a:fld>
            <a:endParaRPr lang="en-IN"/>
          </a:p>
        </p:txBody>
      </p:sp>
    </p:spTree>
    <p:extLst>
      <p:ext uri="{BB962C8B-B14F-4D97-AF65-F5344CB8AC3E}">
        <p14:creationId xmlns:p14="http://schemas.microsoft.com/office/powerpoint/2010/main" val="41151453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116E40-8A33-B3D6-24BF-7E8E7293C42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FEDC3EC6-802D-D80A-237B-F912812368E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2F5DC3F-A136-8B79-7EF1-9EB75E3ABD89}"/>
              </a:ext>
            </a:extLst>
          </p:cNvPr>
          <p:cNvSpPr>
            <a:spLocks noGrp="1"/>
          </p:cNvSpPr>
          <p:nvPr>
            <p:ph type="dt" sz="half" idx="10"/>
          </p:nvPr>
        </p:nvSpPr>
        <p:spPr/>
        <p:txBody>
          <a:bodyPr/>
          <a:lstStyle/>
          <a:p>
            <a:fld id="{BE280279-FC29-4196-9856-45B913228B0B}" type="datetimeFigureOut">
              <a:rPr lang="en-IN" smtClean="0"/>
              <a:t>20-11-2025</a:t>
            </a:fld>
            <a:endParaRPr lang="en-IN"/>
          </a:p>
        </p:txBody>
      </p:sp>
      <p:sp>
        <p:nvSpPr>
          <p:cNvPr id="5" name="Footer Placeholder 4">
            <a:extLst>
              <a:ext uri="{FF2B5EF4-FFF2-40B4-BE49-F238E27FC236}">
                <a16:creationId xmlns:a16="http://schemas.microsoft.com/office/drawing/2014/main" id="{7C529687-CEEF-9CA4-5EC2-EF6F3D9F4DB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98942AE-13ED-0955-D06E-4B330CDB3251}"/>
              </a:ext>
            </a:extLst>
          </p:cNvPr>
          <p:cNvSpPr>
            <a:spLocks noGrp="1"/>
          </p:cNvSpPr>
          <p:nvPr>
            <p:ph type="sldNum" sz="quarter" idx="12"/>
          </p:nvPr>
        </p:nvSpPr>
        <p:spPr/>
        <p:txBody>
          <a:bodyPr/>
          <a:lstStyle/>
          <a:p>
            <a:fld id="{C800614B-F3B2-40ED-BA0A-992CBF814426}" type="slidenum">
              <a:rPr lang="en-IN" smtClean="0"/>
              <a:t>‹#›</a:t>
            </a:fld>
            <a:endParaRPr lang="en-IN"/>
          </a:p>
        </p:txBody>
      </p:sp>
    </p:spTree>
    <p:extLst>
      <p:ext uri="{BB962C8B-B14F-4D97-AF65-F5344CB8AC3E}">
        <p14:creationId xmlns:p14="http://schemas.microsoft.com/office/powerpoint/2010/main" val="12133720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3BD9F8-4F58-505F-6231-58020D3307C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E6506A4-80B0-DC5E-682E-08883B51E04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0512EF66-42AF-0F4C-BC9F-1130D5E76BD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8D058BCF-EF10-2185-1384-9F53A1F3FDD0}"/>
              </a:ext>
            </a:extLst>
          </p:cNvPr>
          <p:cNvSpPr>
            <a:spLocks noGrp="1"/>
          </p:cNvSpPr>
          <p:nvPr>
            <p:ph type="dt" sz="half" idx="10"/>
          </p:nvPr>
        </p:nvSpPr>
        <p:spPr/>
        <p:txBody>
          <a:bodyPr/>
          <a:lstStyle/>
          <a:p>
            <a:fld id="{BE280279-FC29-4196-9856-45B913228B0B}" type="datetimeFigureOut">
              <a:rPr lang="en-IN" smtClean="0"/>
              <a:t>20-11-2025</a:t>
            </a:fld>
            <a:endParaRPr lang="en-IN"/>
          </a:p>
        </p:txBody>
      </p:sp>
      <p:sp>
        <p:nvSpPr>
          <p:cNvPr id="6" name="Footer Placeholder 5">
            <a:extLst>
              <a:ext uri="{FF2B5EF4-FFF2-40B4-BE49-F238E27FC236}">
                <a16:creationId xmlns:a16="http://schemas.microsoft.com/office/drawing/2014/main" id="{3336FA0B-9343-BD1B-48EB-F8C9A50F706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12B0445-1015-8B88-488E-1025ECE3CBA3}"/>
              </a:ext>
            </a:extLst>
          </p:cNvPr>
          <p:cNvSpPr>
            <a:spLocks noGrp="1"/>
          </p:cNvSpPr>
          <p:nvPr>
            <p:ph type="sldNum" sz="quarter" idx="12"/>
          </p:nvPr>
        </p:nvSpPr>
        <p:spPr/>
        <p:txBody>
          <a:bodyPr/>
          <a:lstStyle/>
          <a:p>
            <a:fld id="{C800614B-F3B2-40ED-BA0A-992CBF814426}" type="slidenum">
              <a:rPr lang="en-IN" smtClean="0"/>
              <a:t>‹#›</a:t>
            </a:fld>
            <a:endParaRPr lang="en-IN"/>
          </a:p>
        </p:txBody>
      </p:sp>
    </p:spTree>
    <p:extLst>
      <p:ext uri="{BB962C8B-B14F-4D97-AF65-F5344CB8AC3E}">
        <p14:creationId xmlns:p14="http://schemas.microsoft.com/office/powerpoint/2010/main" val="8756430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73FFA1-F9FD-D947-DEC1-BF3F88EE48CC}"/>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6524FD3-5A17-66C8-076F-20640CCF9EC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8DC9FE8-7E1E-BDCC-4DB9-9D1F9877414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22441939-01D4-92D9-A9CD-12E0D666013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7DF67B9-589C-201E-E372-DA6BFD95491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9A41C6ED-CDA6-99D1-14F8-7919D3C7A145}"/>
              </a:ext>
            </a:extLst>
          </p:cNvPr>
          <p:cNvSpPr>
            <a:spLocks noGrp="1"/>
          </p:cNvSpPr>
          <p:nvPr>
            <p:ph type="dt" sz="half" idx="10"/>
          </p:nvPr>
        </p:nvSpPr>
        <p:spPr/>
        <p:txBody>
          <a:bodyPr/>
          <a:lstStyle/>
          <a:p>
            <a:fld id="{BE280279-FC29-4196-9856-45B913228B0B}" type="datetimeFigureOut">
              <a:rPr lang="en-IN" smtClean="0"/>
              <a:t>20-11-2025</a:t>
            </a:fld>
            <a:endParaRPr lang="en-IN"/>
          </a:p>
        </p:txBody>
      </p:sp>
      <p:sp>
        <p:nvSpPr>
          <p:cNvPr id="8" name="Footer Placeholder 7">
            <a:extLst>
              <a:ext uri="{FF2B5EF4-FFF2-40B4-BE49-F238E27FC236}">
                <a16:creationId xmlns:a16="http://schemas.microsoft.com/office/drawing/2014/main" id="{FD931C6F-D193-147F-802A-9526184DD971}"/>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785DA546-C430-7AC0-0DEC-4A5E8F64E6D6}"/>
              </a:ext>
            </a:extLst>
          </p:cNvPr>
          <p:cNvSpPr>
            <a:spLocks noGrp="1"/>
          </p:cNvSpPr>
          <p:nvPr>
            <p:ph type="sldNum" sz="quarter" idx="12"/>
          </p:nvPr>
        </p:nvSpPr>
        <p:spPr/>
        <p:txBody>
          <a:bodyPr/>
          <a:lstStyle/>
          <a:p>
            <a:fld id="{C800614B-F3B2-40ED-BA0A-992CBF814426}" type="slidenum">
              <a:rPr lang="en-IN" smtClean="0"/>
              <a:t>‹#›</a:t>
            </a:fld>
            <a:endParaRPr lang="en-IN"/>
          </a:p>
        </p:txBody>
      </p:sp>
    </p:spTree>
    <p:extLst>
      <p:ext uri="{BB962C8B-B14F-4D97-AF65-F5344CB8AC3E}">
        <p14:creationId xmlns:p14="http://schemas.microsoft.com/office/powerpoint/2010/main" val="26262531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34EEFD-0CE9-C385-33DD-D7E869BD447F}"/>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17929EE8-C72F-7CA5-ADF4-CF4F1E403D53}"/>
              </a:ext>
            </a:extLst>
          </p:cNvPr>
          <p:cNvSpPr>
            <a:spLocks noGrp="1"/>
          </p:cNvSpPr>
          <p:nvPr>
            <p:ph type="dt" sz="half" idx="10"/>
          </p:nvPr>
        </p:nvSpPr>
        <p:spPr/>
        <p:txBody>
          <a:bodyPr/>
          <a:lstStyle/>
          <a:p>
            <a:fld id="{BE280279-FC29-4196-9856-45B913228B0B}" type="datetimeFigureOut">
              <a:rPr lang="en-IN" smtClean="0"/>
              <a:t>20-11-2025</a:t>
            </a:fld>
            <a:endParaRPr lang="en-IN"/>
          </a:p>
        </p:txBody>
      </p:sp>
      <p:sp>
        <p:nvSpPr>
          <p:cNvPr id="4" name="Footer Placeholder 3">
            <a:extLst>
              <a:ext uri="{FF2B5EF4-FFF2-40B4-BE49-F238E27FC236}">
                <a16:creationId xmlns:a16="http://schemas.microsoft.com/office/drawing/2014/main" id="{70A30639-532F-7286-4971-EF9804302D32}"/>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D1E56172-424D-3EE4-B5EA-A9ED8BEF2A4B}"/>
              </a:ext>
            </a:extLst>
          </p:cNvPr>
          <p:cNvSpPr>
            <a:spLocks noGrp="1"/>
          </p:cNvSpPr>
          <p:nvPr>
            <p:ph type="sldNum" sz="quarter" idx="12"/>
          </p:nvPr>
        </p:nvSpPr>
        <p:spPr/>
        <p:txBody>
          <a:bodyPr/>
          <a:lstStyle/>
          <a:p>
            <a:fld id="{C800614B-F3B2-40ED-BA0A-992CBF814426}" type="slidenum">
              <a:rPr lang="en-IN" smtClean="0"/>
              <a:t>‹#›</a:t>
            </a:fld>
            <a:endParaRPr lang="en-IN"/>
          </a:p>
        </p:txBody>
      </p:sp>
    </p:spTree>
    <p:extLst>
      <p:ext uri="{BB962C8B-B14F-4D97-AF65-F5344CB8AC3E}">
        <p14:creationId xmlns:p14="http://schemas.microsoft.com/office/powerpoint/2010/main" val="7748551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F96B258-CBD8-2B7E-7719-2B5817E128A2}"/>
              </a:ext>
            </a:extLst>
          </p:cNvPr>
          <p:cNvSpPr>
            <a:spLocks noGrp="1"/>
          </p:cNvSpPr>
          <p:nvPr>
            <p:ph type="dt" sz="half" idx="10"/>
          </p:nvPr>
        </p:nvSpPr>
        <p:spPr/>
        <p:txBody>
          <a:bodyPr/>
          <a:lstStyle/>
          <a:p>
            <a:fld id="{BE280279-FC29-4196-9856-45B913228B0B}" type="datetimeFigureOut">
              <a:rPr lang="en-IN" smtClean="0"/>
              <a:t>20-11-2025</a:t>
            </a:fld>
            <a:endParaRPr lang="en-IN"/>
          </a:p>
        </p:txBody>
      </p:sp>
      <p:sp>
        <p:nvSpPr>
          <p:cNvPr id="3" name="Footer Placeholder 2">
            <a:extLst>
              <a:ext uri="{FF2B5EF4-FFF2-40B4-BE49-F238E27FC236}">
                <a16:creationId xmlns:a16="http://schemas.microsoft.com/office/drawing/2014/main" id="{2AEBCD5D-21FB-90E4-9228-CE559CE47489}"/>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C4496F07-073D-2EE8-850E-F4D1C34B799C}"/>
              </a:ext>
            </a:extLst>
          </p:cNvPr>
          <p:cNvSpPr>
            <a:spLocks noGrp="1"/>
          </p:cNvSpPr>
          <p:nvPr>
            <p:ph type="sldNum" sz="quarter" idx="12"/>
          </p:nvPr>
        </p:nvSpPr>
        <p:spPr/>
        <p:txBody>
          <a:bodyPr/>
          <a:lstStyle/>
          <a:p>
            <a:fld id="{C800614B-F3B2-40ED-BA0A-992CBF814426}" type="slidenum">
              <a:rPr lang="en-IN" smtClean="0"/>
              <a:t>‹#›</a:t>
            </a:fld>
            <a:endParaRPr lang="en-IN"/>
          </a:p>
        </p:txBody>
      </p:sp>
    </p:spTree>
    <p:extLst>
      <p:ext uri="{BB962C8B-B14F-4D97-AF65-F5344CB8AC3E}">
        <p14:creationId xmlns:p14="http://schemas.microsoft.com/office/powerpoint/2010/main" val="23035094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028C66-27F0-AFAD-585D-476F1C980C8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AF23DD95-2292-ECD0-A56C-BAA0D44ECC1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10059ECD-19A4-6871-4FDB-86992F41C80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8464A6F-41C1-01C7-EC3B-22D4AEF6503D}"/>
              </a:ext>
            </a:extLst>
          </p:cNvPr>
          <p:cNvSpPr>
            <a:spLocks noGrp="1"/>
          </p:cNvSpPr>
          <p:nvPr>
            <p:ph type="dt" sz="half" idx="10"/>
          </p:nvPr>
        </p:nvSpPr>
        <p:spPr/>
        <p:txBody>
          <a:bodyPr/>
          <a:lstStyle/>
          <a:p>
            <a:fld id="{BE280279-FC29-4196-9856-45B913228B0B}" type="datetimeFigureOut">
              <a:rPr lang="en-IN" smtClean="0"/>
              <a:t>20-11-2025</a:t>
            </a:fld>
            <a:endParaRPr lang="en-IN"/>
          </a:p>
        </p:txBody>
      </p:sp>
      <p:sp>
        <p:nvSpPr>
          <p:cNvPr id="6" name="Footer Placeholder 5">
            <a:extLst>
              <a:ext uri="{FF2B5EF4-FFF2-40B4-BE49-F238E27FC236}">
                <a16:creationId xmlns:a16="http://schemas.microsoft.com/office/drawing/2014/main" id="{CE8B18F1-615D-CC5D-F496-0266C86F9F3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083964A-A292-CF92-6DB8-F646D1ED35C9}"/>
              </a:ext>
            </a:extLst>
          </p:cNvPr>
          <p:cNvSpPr>
            <a:spLocks noGrp="1"/>
          </p:cNvSpPr>
          <p:nvPr>
            <p:ph type="sldNum" sz="quarter" idx="12"/>
          </p:nvPr>
        </p:nvSpPr>
        <p:spPr/>
        <p:txBody>
          <a:bodyPr/>
          <a:lstStyle/>
          <a:p>
            <a:fld id="{C800614B-F3B2-40ED-BA0A-992CBF814426}" type="slidenum">
              <a:rPr lang="en-IN" smtClean="0"/>
              <a:t>‹#›</a:t>
            </a:fld>
            <a:endParaRPr lang="en-IN"/>
          </a:p>
        </p:txBody>
      </p:sp>
    </p:spTree>
    <p:extLst>
      <p:ext uri="{BB962C8B-B14F-4D97-AF65-F5344CB8AC3E}">
        <p14:creationId xmlns:p14="http://schemas.microsoft.com/office/powerpoint/2010/main" val="36932922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BDE696-02BE-9FDF-A5F0-4F9F0FFFCA4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6D04455F-E88A-4C71-BDF4-ADA95E48C18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2119DF5F-7F51-DA65-E611-3794D995145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F71C739-3C6E-40CB-66B2-4C1D9F8005B6}"/>
              </a:ext>
            </a:extLst>
          </p:cNvPr>
          <p:cNvSpPr>
            <a:spLocks noGrp="1"/>
          </p:cNvSpPr>
          <p:nvPr>
            <p:ph type="dt" sz="half" idx="10"/>
          </p:nvPr>
        </p:nvSpPr>
        <p:spPr/>
        <p:txBody>
          <a:bodyPr/>
          <a:lstStyle/>
          <a:p>
            <a:fld id="{BE280279-FC29-4196-9856-45B913228B0B}" type="datetimeFigureOut">
              <a:rPr lang="en-IN" smtClean="0"/>
              <a:t>20-11-2025</a:t>
            </a:fld>
            <a:endParaRPr lang="en-IN"/>
          </a:p>
        </p:txBody>
      </p:sp>
      <p:sp>
        <p:nvSpPr>
          <p:cNvPr id="6" name="Footer Placeholder 5">
            <a:extLst>
              <a:ext uri="{FF2B5EF4-FFF2-40B4-BE49-F238E27FC236}">
                <a16:creationId xmlns:a16="http://schemas.microsoft.com/office/drawing/2014/main" id="{FC88484C-3E3E-94D4-FA54-C8EF84A84A0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A43A410-8D2A-D09A-6241-6F31A00A5546}"/>
              </a:ext>
            </a:extLst>
          </p:cNvPr>
          <p:cNvSpPr>
            <a:spLocks noGrp="1"/>
          </p:cNvSpPr>
          <p:nvPr>
            <p:ph type="sldNum" sz="quarter" idx="12"/>
          </p:nvPr>
        </p:nvSpPr>
        <p:spPr/>
        <p:txBody>
          <a:bodyPr/>
          <a:lstStyle/>
          <a:p>
            <a:fld id="{C800614B-F3B2-40ED-BA0A-992CBF814426}" type="slidenum">
              <a:rPr lang="en-IN" smtClean="0"/>
              <a:t>‹#›</a:t>
            </a:fld>
            <a:endParaRPr lang="en-IN"/>
          </a:p>
        </p:txBody>
      </p:sp>
    </p:spTree>
    <p:extLst>
      <p:ext uri="{BB962C8B-B14F-4D97-AF65-F5344CB8AC3E}">
        <p14:creationId xmlns:p14="http://schemas.microsoft.com/office/powerpoint/2010/main" val="18513547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A9C25E-53D4-8DFB-773D-085098DBC4CF}"/>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BE85745-5F0D-41C4-3266-F0AE9D0C932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F9D1686-8843-E228-776C-6F470FD5FA2F}"/>
              </a:ext>
            </a:extLst>
          </p:cNvPr>
          <p:cNvSpPr>
            <a:spLocks noGrp="1"/>
          </p:cNvSpPr>
          <p:nvPr>
            <p:ph type="dt" sz="half" idx="10"/>
          </p:nvPr>
        </p:nvSpPr>
        <p:spPr/>
        <p:txBody>
          <a:bodyPr/>
          <a:lstStyle/>
          <a:p>
            <a:fld id="{BE280279-FC29-4196-9856-45B913228B0B}" type="datetimeFigureOut">
              <a:rPr lang="en-IN" smtClean="0"/>
              <a:t>20-11-2025</a:t>
            </a:fld>
            <a:endParaRPr lang="en-IN"/>
          </a:p>
        </p:txBody>
      </p:sp>
      <p:sp>
        <p:nvSpPr>
          <p:cNvPr id="5" name="Footer Placeholder 4">
            <a:extLst>
              <a:ext uri="{FF2B5EF4-FFF2-40B4-BE49-F238E27FC236}">
                <a16:creationId xmlns:a16="http://schemas.microsoft.com/office/drawing/2014/main" id="{458C6137-62F3-35AF-036D-EAD4E3CED96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B13C942-3953-ECF8-19E8-EFC6E1636865}"/>
              </a:ext>
            </a:extLst>
          </p:cNvPr>
          <p:cNvSpPr>
            <a:spLocks noGrp="1"/>
          </p:cNvSpPr>
          <p:nvPr>
            <p:ph type="sldNum" sz="quarter" idx="12"/>
          </p:nvPr>
        </p:nvSpPr>
        <p:spPr/>
        <p:txBody>
          <a:bodyPr/>
          <a:lstStyle/>
          <a:p>
            <a:fld id="{C800614B-F3B2-40ED-BA0A-992CBF814426}" type="slidenum">
              <a:rPr lang="en-IN" smtClean="0"/>
              <a:t>‹#›</a:t>
            </a:fld>
            <a:endParaRPr lang="en-IN"/>
          </a:p>
        </p:txBody>
      </p:sp>
    </p:spTree>
    <p:extLst>
      <p:ext uri="{BB962C8B-B14F-4D97-AF65-F5344CB8AC3E}">
        <p14:creationId xmlns:p14="http://schemas.microsoft.com/office/powerpoint/2010/main" val="32422346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B0072FD-F7C6-D42B-3673-67E6E4176EC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A4E452D-8E8A-8BEB-3489-F3FC3F7BC7F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BF9E5B3-BF56-731B-ED01-1A89606F394B}"/>
              </a:ext>
            </a:extLst>
          </p:cNvPr>
          <p:cNvSpPr>
            <a:spLocks noGrp="1"/>
          </p:cNvSpPr>
          <p:nvPr>
            <p:ph type="dt" sz="half" idx="10"/>
          </p:nvPr>
        </p:nvSpPr>
        <p:spPr/>
        <p:txBody>
          <a:bodyPr/>
          <a:lstStyle/>
          <a:p>
            <a:fld id="{BE280279-FC29-4196-9856-45B913228B0B}" type="datetimeFigureOut">
              <a:rPr lang="en-IN" smtClean="0"/>
              <a:t>20-11-2025</a:t>
            </a:fld>
            <a:endParaRPr lang="en-IN"/>
          </a:p>
        </p:txBody>
      </p:sp>
      <p:sp>
        <p:nvSpPr>
          <p:cNvPr id="5" name="Footer Placeholder 4">
            <a:extLst>
              <a:ext uri="{FF2B5EF4-FFF2-40B4-BE49-F238E27FC236}">
                <a16:creationId xmlns:a16="http://schemas.microsoft.com/office/drawing/2014/main" id="{4A962109-EB36-1001-4DD2-BEB5A3D70F9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617AF5F-5B6E-4844-8E3D-79869B7D7F61}"/>
              </a:ext>
            </a:extLst>
          </p:cNvPr>
          <p:cNvSpPr>
            <a:spLocks noGrp="1"/>
          </p:cNvSpPr>
          <p:nvPr>
            <p:ph type="sldNum" sz="quarter" idx="12"/>
          </p:nvPr>
        </p:nvSpPr>
        <p:spPr/>
        <p:txBody>
          <a:bodyPr/>
          <a:lstStyle/>
          <a:p>
            <a:fld id="{C800614B-F3B2-40ED-BA0A-992CBF814426}" type="slidenum">
              <a:rPr lang="en-IN" smtClean="0"/>
              <a:t>‹#›</a:t>
            </a:fld>
            <a:endParaRPr lang="en-IN"/>
          </a:p>
        </p:txBody>
      </p:sp>
    </p:spTree>
    <p:extLst>
      <p:ext uri="{BB962C8B-B14F-4D97-AF65-F5344CB8AC3E}">
        <p14:creationId xmlns:p14="http://schemas.microsoft.com/office/powerpoint/2010/main" val="26193162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B53550C-CEB5-DCA3-6929-16EA24EB8C1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9187EB2-D296-6001-EB5F-1C84ADB918F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DD1BF0A-FDA6-8BBC-5BC7-8CDCE6E4263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E280279-FC29-4196-9856-45B913228B0B}" type="datetimeFigureOut">
              <a:rPr lang="en-IN" smtClean="0"/>
              <a:t>20-11-2025</a:t>
            </a:fld>
            <a:endParaRPr lang="en-IN"/>
          </a:p>
        </p:txBody>
      </p:sp>
      <p:sp>
        <p:nvSpPr>
          <p:cNvPr id="5" name="Footer Placeholder 4">
            <a:extLst>
              <a:ext uri="{FF2B5EF4-FFF2-40B4-BE49-F238E27FC236}">
                <a16:creationId xmlns:a16="http://schemas.microsoft.com/office/drawing/2014/main" id="{2E063EAC-D04D-4625-4D1E-9E8AA528D4F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70C88C28-701D-E43F-2DF6-04D48F97998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800614B-F3B2-40ED-BA0A-992CBF814426}" type="slidenum">
              <a:rPr lang="en-IN" smtClean="0"/>
              <a:t>‹#›</a:t>
            </a:fld>
            <a:endParaRPr lang="en-IN"/>
          </a:p>
        </p:txBody>
      </p:sp>
    </p:spTree>
    <p:extLst>
      <p:ext uri="{BB962C8B-B14F-4D97-AF65-F5344CB8AC3E}">
        <p14:creationId xmlns:p14="http://schemas.microsoft.com/office/powerpoint/2010/main" val="289117682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8" Type="http://schemas.openxmlformats.org/officeDocument/2006/relationships/image" Target="../media/image16.svg"/><Relationship Id="rId3" Type="http://schemas.openxmlformats.org/officeDocument/2006/relationships/image" Target="../media/image11.png"/><Relationship Id="rId7" Type="http://schemas.openxmlformats.org/officeDocument/2006/relationships/image" Target="../media/image15.png"/><Relationship Id="rId12" Type="http://schemas.openxmlformats.org/officeDocument/2006/relationships/image" Target="../media/image20.svg"/><Relationship Id="rId2" Type="http://schemas.openxmlformats.org/officeDocument/2006/relationships/image" Target="../media/image10.png"/><Relationship Id="rId1" Type="http://schemas.openxmlformats.org/officeDocument/2006/relationships/slideLayout" Target="../slideLayouts/slideLayout2.xml"/><Relationship Id="rId6" Type="http://schemas.openxmlformats.org/officeDocument/2006/relationships/image" Target="../media/image14.svg"/><Relationship Id="rId11" Type="http://schemas.openxmlformats.org/officeDocument/2006/relationships/image" Target="../media/image19.png"/><Relationship Id="rId5" Type="http://schemas.openxmlformats.org/officeDocument/2006/relationships/image" Target="../media/image13.png"/><Relationship Id="rId10" Type="http://schemas.openxmlformats.org/officeDocument/2006/relationships/image" Target="../media/image18.svg"/><Relationship Id="rId4" Type="http://schemas.openxmlformats.org/officeDocument/2006/relationships/image" Target="../media/image12.svg"/><Relationship Id="rId9" Type="http://schemas.openxmlformats.org/officeDocument/2006/relationships/image" Target="../media/image17.png"/></Relationships>
</file>

<file path=ppt/slides/_rels/slide1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hyperlink" Target="TF-IDF.pdf" TargetMode="Externa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hyperlink" Target="https://colab.research.google.com/drive/12GWHmYPJ7Ck_1LPgSfYC_l7C94YMPdQG#scrollTo=1kYprppV0JCA" TargetMode="External"/><Relationship Id="rId2" Type="http://schemas.openxmlformats.org/officeDocument/2006/relationships/hyperlink" Target="https://code.google.com/archive/p/word2vec/" TargetMode="External"/><Relationship Id="rId1" Type="http://schemas.openxmlformats.org/officeDocument/2006/relationships/slideLayout" Target="../slideLayouts/slideLayout2.xml"/><Relationship Id="rId4" Type="http://schemas.openxmlformats.org/officeDocument/2006/relationships/hyperlink" Target="https://nlp.stanford.edu/projects/glove/" TargetMode="External"/></Relationships>
</file>

<file path=ppt/slides/_rels/slide18.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hyperlink" Target="https://www.kaggle.com/datasets/columbine/imdb-dataset-sentiment-analysis-in-csv-format" TargetMode="Externa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image" Target="../media/image25.jpeg"/><Relationship Id="rId1" Type="http://schemas.openxmlformats.org/officeDocument/2006/relationships/slideLayout" Target="../slideLayouts/slideLayout7.xml"/><Relationship Id="rId4" Type="http://schemas.openxmlformats.org/officeDocument/2006/relationships/image" Target="../media/image27.jpeg"/></Relationships>
</file>

<file path=ppt/slides/_rels/slide21.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image" Target="../media/image28.jpeg"/><Relationship Id="rId1" Type="http://schemas.openxmlformats.org/officeDocument/2006/relationships/slideLayout" Target="../slideLayouts/slideLayout7.xml"/><Relationship Id="rId4" Type="http://schemas.openxmlformats.org/officeDocument/2006/relationships/image" Target="../media/image30.jpeg"/></Relationships>
</file>

<file path=ppt/slides/_rels/slide22.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image" Target="../media/image31.jpeg"/><Relationship Id="rId1" Type="http://schemas.openxmlformats.org/officeDocument/2006/relationships/slideLayout" Target="../slideLayouts/slideLayout7.xml"/><Relationship Id="rId6" Type="http://schemas.openxmlformats.org/officeDocument/2006/relationships/image" Target="../media/image35.svg"/><Relationship Id="rId5" Type="http://schemas.openxmlformats.org/officeDocument/2006/relationships/image" Target="../media/image34.png"/><Relationship Id="rId4" Type="http://schemas.openxmlformats.org/officeDocument/2006/relationships/image" Target="../media/image33.jpeg"/></Relationships>
</file>

<file path=ppt/slides/_rels/slide23.xml.rels><?xml version="1.0" encoding="UTF-8" standalone="yes"?>
<Relationships xmlns="http://schemas.openxmlformats.org/package/2006/relationships"><Relationship Id="rId3" Type="http://schemas.openxmlformats.org/officeDocument/2006/relationships/image" Target="../media/image37.svg"/><Relationship Id="rId2" Type="http://schemas.openxmlformats.org/officeDocument/2006/relationships/image" Target="../media/image36.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jpeg"/><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hyperlink" Target="https://colab.research.google.com/drive/1xtFPMbgGrNaArZ14Vy45Vh6OXW4jwEdK#scrollTo=a0_TeUeB6ZfH" TargetMode="External"/><Relationship Id="rId2" Type="http://schemas.openxmlformats.org/officeDocument/2006/relationships/hyperlink" Target="https://colab.research.google.com/drive/1JaZbCkO8eCqM9W9sNUWKh08d3KJaDWXy#scrollTo=dYOVH-084YI5"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C19FA5-55F9-3A1E-CFAE-D20B87B104D5}"/>
              </a:ext>
            </a:extLst>
          </p:cNvPr>
          <p:cNvSpPr>
            <a:spLocks noGrp="1"/>
          </p:cNvSpPr>
          <p:nvPr>
            <p:ph type="ctrTitle"/>
          </p:nvPr>
        </p:nvSpPr>
        <p:spPr/>
        <p:txBody>
          <a:bodyPr/>
          <a:lstStyle/>
          <a:p>
            <a:r>
              <a:rPr lang="en-IN" b="1" i="1" dirty="0">
                <a:solidFill>
                  <a:srgbClr val="C00000"/>
                </a:solidFill>
              </a:rPr>
              <a:t>Sentiment Analysis using Natural Language Processing</a:t>
            </a:r>
          </a:p>
        </p:txBody>
      </p:sp>
      <p:sp>
        <p:nvSpPr>
          <p:cNvPr id="4" name="Subtitle 2">
            <a:extLst>
              <a:ext uri="{FF2B5EF4-FFF2-40B4-BE49-F238E27FC236}">
                <a16:creationId xmlns:a16="http://schemas.microsoft.com/office/drawing/2014/main" id="{D4B3A3BB-1C10-4EF4-8725-0AEC5D60932D}"/>
              </a:ext>
            </a:extLst>
          </p:cNvPr>
          <p:cNvSpPr>
            <a:spLocks noGrp="1"/>
          </p:cNvSpPr>
          <p:nvPr>
            <p:ph type="subTitle" idx="1"/>
          </p:nvPr>
        </p:nvSpPr>
        <p:spPr>
          <a:xfrm>
            <a:off x="1737360" y="4435158"/>
            <a:ext cx="9144000" cy="1655762"/>
          </a:xfrm>
        </p:spPr>
        <p:txBody>
          <a:bodyPr>
            <a:normAutofit/>
          </a:bodyPr>
          <a:lstStyle/>
          <a:p>
            <a:pPr>
              <a:spcBef>
                <a:spcPts val="0"/>
              </a:spcBef>
            </a:pPr>
            <a:r>
              <a:rPr lang="en-IN" dirty="0"/>
              <a:t>                                                                                </a:t>
            </a:r>
            <a:r>
              <a:rPr lang="en-IN" b="1" i="1" dirty="0">
                <a:latin typeface="Times New Roman" panose="02020603050405020304" pitchFamily="18" charset="0"/>
                <a:cs typeface="Times New Roman" panose="02020603050405020304" pitchFamily="18" charset="0"/>
              </a:rPr>
              <a:t>Mrs. N. Sushma Rani</a:t>
            </a:r>
          </a:p>
          <a:p>
            <a:pPr>
              <a:spcBef>
                <a:spcPts val="0"/>
              </a:spcBef>
            </a:pPr>
            <a:r>
              <a:rPr lang="en-IN" b="1" i="1" dirty="0">
                <a:latin typeface="Times New Roman" panose="02020603050405020304" pitchFamily="18" charset="0"/>
                <a:cs typeface="Times New Roman" panose="02020603050405020304" pitchFamily="18" charset="0"/>
              </a:rPr>
              <a:t>                                                                            Dist. Assistant Professor</a:t>
            </a:r>
          </a:p>
          <a:p>
            <a:pPr>
              <a:spcBef>
                <a:spcPts val="0"/>
              </a:spcBef>
            </a:pPr>
            <a:r>
              <a:rPr lang="en-IN" b="1" i="1" dirty="0">
                <a:latin typeface="Times New Roman" panose="02020603050405020304" pitchFamily="18" charset="0"/>
                <a:cs typeface="Times New Roman" panose="02020603050405020304" pitchFamily="18" charset="0"/>
              </a:rPr>
              <a:t>                                                                 Data Engineering </a:t>
            </a:r>
          </a:p>
          <a:p>
            <a:pPr>
              <a:spcBef>
                <a:spcPts val="0"/>
              </a:spcBef>
            </a:pPr>
            <a:r>
              <a:rPr lang="en-IN" b="1" i="1" dirty="0">
                <a:latin typeface="Times New Roman" panose="02020603050405020304" pitchFamily="18" charset="0"/>
                <a:cs typeface="Times New Roman" panose="02020603050405020304" pitchFamily="18" charset="0"/>
              </a:rPr>
              <a:t>                                                          MVGRCE(A)</a:t>
            </a:r>
          </a:p>
          <a:p>
            <a:endParaRPr lang="en-IN" dirty="0"/>
          </a:p>
        </p:txBody>
      </p:sp>
    </p:spTree>
    <p:extLst>
      <p:ext uri="{BB962C8B-B14F-4D97-AF65-F5344CB8AC3E}">
        <p14:creationId xmlns:p14="http://schemas.microsoft.com/office/powerpoint/2010/main" val="38976504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37D05D-4BB2-6539-5960-F319686A47B6}"/>
              </a:ext>
            </a:extLst>
          </p:cNvPr>
          <p:cNvSpPr>
            <a:spLocks noGrp="1"/>
          </p:cNvSpPr>
          <p:nvPr>
            <p:ph type="title"/>
          </p:nvPr>
        </p:nvSpPr>
        <p:spPr>
          <a:xfrm>
            <a:off x="838200" y="365125"/>
            <a:ext cx="10825480" cy="1325563"/>
          </a:xfrm>
        </p:spPr>
        <p:txBody>
          <a:bodyPr/>
          <a:lstStyle/>
          <a:p>
            <a:r>
              <a:rPr lang="en-IN" b="1" dirty="0">
                <a:solidFill>
                  <a:srgbClr val="C00000"/>
                </a:solidFill>
              </a:rPr>
              <a:t>Introduction to Natural Language Processing(NLP)</a:t>
            </a:r>
          </a:p>
        </p:txBody>
      </p:sp>
      <p:sp>
        <p:nvSpPr>
          <p:cNvPr id="3" name="Content Placeholder 2">
            <a:extLst>
              <a:ext uri="{FF2B5EF4-FFF2-40B4-BE49-F238E27FC236}">
                <a16:creationId xmlns:a16="http://schemas.microsoft.com/office/drawing/2014/main" id="{98ACB343-24C1-4251-BB74-96EC983777E8}"/>
              </a:ext>
            </a:extLst>
          </p:cNvPr>
          <p:cNvSpPr>
            <a:spLocks noGrp="1"/>
          </p:cNvSpPr>
          <p:nvPr>
            <p:ph idx="1"/>
          </p:nvPr>
        </p:nvSpPr>
        <p:spPr/>
        <p:txBody>
          <a:bodyPr/>
          <a:lstStyle/>
          <a:p>
            <a:pPr marL="0" indent="0" algn="just">
              <a:buNone/>
            </a:pPr>
            <a:r>
              <a:rPr lang="en-US" dirty="0"/>
              <a:t>Natural Language Processing (NLP) is a branch of data science that consists of systematic processes for analyzing, understanding, and deriving information from the text data in a smart and efficient manner.</a:t>
            </a:r>
          </a:p>
          <a:p>
            <a:pPr marL="0" indent="0">
              <a:buNone/>
            </a:pPr>
            <a:r>
              <a:rPr lang="en-IN" b="1" dirty="0"/>
              <a:t>Examples:</a:t>
            </a:r>
            <a:endParaRPr lang="en-IN" dirty="0"/>
          </a:p>
          <a:p>
            <a:r>
              <a:rPr lang="en-IN" dirty="0"/>
              <a:t>ChatGPT &amp; chatbots</a:t>
            </a:r>
          </a:p>
          <a:p>
            <a:r>
              <a:rPr lang="en-IN" dirty="0"/>
              <a:t>Google Translate</a:t>
            </a:r>
          </a:p>
          <a:p>
            <a:r>
              <a:rPr lang="en-IN" dirty="0"/>
              <a:t>Voice assistants (Alexa/Siri)</a:t>
            </a:r>
          </a:p>
          <a:p>
            <a:r>
              <a:rPr lang="en-IN" dirty="0"/>
              <a:t>Email spam detection</a:t>
            </a:r>
          </a:p>
          <a:p>
            <a:r>
              <a:rPr lang="en-IN" dirty="0"/>
              <a:t>Review analysis</a:t>
            </a:r>
          </a:p>
          <a:p>
            <a:endParaRPr lang="en-IN" dirty="0"/>
          </a:p>
        </p:txBody>
      </p:sp>
    </p:spTree>
    <p:extLst>
      <p:ext uri="{BB962C8B-B14F-4D97-AF65-F5344CB8AC3E}">
        <p14:creationId xmlns:p14="http://schemas.microsoft.com/office/powerpoint/2010/main" val="4092110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1EF085-46D1-7FDB-450B-767F8A93A340}"/>
              </a:ext>
            </a:extLst>
          </p:cNvPr>
          <p:cNvSpPr>
            <a:spLocks noGrp="1"/>
          </p:cNvSpPr>
          <p:nvPr>
            <p:ph type="title"/>
          </p:nvPr>
        </p:nvSpPr>
        <p:spPr>
          <a:xfrm>
            <a:off x="838200" y="365125"/>
            <a:ext cx="10515600" cy="600075"/>
          </a:xfrm>
        </p:spPr>
        <p:txBody>
          <a:bodyPr>
            <a:noAutofit/>
          </a:bodyPr>
          <a:lstStyle/>
          <a:p>
            <a:r>
              <a:rPr lang="en-IN" b="1" dirty="0">
                <a:solidFill>
                  <a:srgbClr val="C00000"/>
                </a:solidFill>
              </a:rPr>
              <a:t>Wide range of problems that uses NLP</a:t>
            </a:r>
          </a:p>
        </p:txBody>
      </p:sp>
      <p:pic>
        <p:nvPicPr>
          <p:cNvPr id="5" name="Content Placeholder 4">
            <a:extLst>
              <a:ext uri="{FF2B5EF4-FFF2-40B4-BE49-F238E27FC236}">
                <a16:creationId xmlns:a16="http://schemas.microsoft.com/office/drawing/2014/main" id="{B0851736-4B3D-162D-C32D-B6304CA1A65C}"/>
              </a:ext>
            </a:extLst>
          </p:cNvPr>
          <p:cNvPicPr>
            <a:picLocks noGrp="1" noChangeAspect="1"/>
          </p:cNvPicPr>
          <p:nvPr>
            <p:ph idx="1"/>
          </p:nvPr>
        </p:nvPicPr>
        <p:blipFill>
          <a:blip r:embed="rId2"/>
          <a:stretch>
            <a:fillRect/>
          </a:stretch>
        </p:blipFill>
        <p:spPr>
          <a:xfrm>
            <a:off x="1009579" y="1294448"/>
            <a:ext cx="1638442" cy="2232853"/>
          </a:xfrm>
          <a:prstGeom prst="rect">
            <a:avLst/>
          </a:prstGeom>
        </p:spPr>
      </p:pic>
      <p:pic>
        <p:nvPicPr>
          <p:cNvPr id="7" name="Picture 6">
            <a:extLst>
              <a:ext uri="{FF2B5EF4-FFF2-40B4-BE49-F238E27FC236}">
                <a16:creationId xmlns:a16="http://schemas.microsoft.com/office/drawing/2014/main" id="{45C536D0-8097-4197-2432-F24C31591158}"/>
              </a:ext>
            </a:extLst>
          </p:cNvPr>
          <p:cNvPicPr>
            <a:picLocks noChangeAspect="1"/>
          </p:cNvPicPr>
          <p:nvPr/>
        </p:nvPicPr>
        <p:blipFill>
          <a:blip r:embed="rId3"/>
          <a:stretch>
            <a:fillRect/>
          </a:stretch>
        </p:blipFill>
        <p:spPr>
          <a:xfrm>
            <a:off x="2927619" y="1178510"/>
            <a:ext cx="2506789" cy="1565421"/>
          </a:xfrm>
          <a:prstGeom prst="rect">
            <a:avLst/>
          </a:prstGeom>
        </p:spPr>
      </p:pic>
      <p:pic>
        <p:nvPicPr>
          <p:cNvPr id="9" name="Picture 8">
            <a:extLst>
              <a:ext uri="{FF2B5EF4-FFF2-40B4-BE49-F238E27FC236}">
                <a16:creationId xmlns:a16="http://schemas.microsoft.com/office/drawing/2014/main" id="{4D45263F-E6F3-4109-ABD1-C1640C7FDCEB}"/>
              </a:ext>
            </a:extLst>
          </p:cNvPr>
          <p:cNvPicPr>
            <a:picLocks noChangeAspect="1"/>
          </p:cNvPicPr>
          <p:nvPr/>
        </p:nvPicPr>
        <p:blipFill>
          <a:blip r:embed="rId4"/>
          <a:stretch>
            <a:fillRect/>
          </a:stretch>
        </p:blipFill>
        <p:spPr>
          <a:xfrm>
            <a:off x="6332126" y="1046480"/>
            <a:ext cx="2720433" cy="1364394"/>
          </a:xfrm>
          <a:prstGeom prst="rect">
            <a:avLst/>
          </a:prstGeom>
        </p:spPr>
      </p:pic>
      <p:pic>
        <p:nvPicPr>
          <p:cNvPr id="11" name="Picture 10">
            <a:extLst>
              <a:ext uri="{FF2B5EF4-FFF2-40B4-BE49-F238E27FC236}">
                <a16:creationId xmlns:a16="http://schemas.microsoft.com/office/drawing/2014/main" id="{40B74CF2-5B3C-223B-86F8-C66B06A044FD}"/>
              </a:ext>
            </a:extLst>
          </p:cNvPr>
          <p:cNvPicPr>
            <a:picLocks noChangeAspect="1"/>
          </p:cNvPicPr>
          <p:nvPr/>
        </p:nvPicPr>
        <p:blipFill>
          <a:blip r:embed="rId5"/>
          <a:stretch>
            <a:fillRect/>
          </a:stretch>
        </p:blipFill>
        <p:spPr>
          <a:xfrm>
            <a:off x="8481153" y="2410874"/>
            <a:ext cx="2701268" cy="1491398"/>
          </a:xfrm>
          <a:prstGeom prst="rect">
            <a:avLst/>
          </a:prstGeom>
        </p:spPr>
      </p:pic>
      <p:pic>
        <p:nvPicPr>
          <p:cNvPr id="13" name="Picture 12">
            <a:extLst>
              <a:ext uri="{FF2B5EF4-FFF2-40B4-BE49-F238E27FC236}">
                <a16:creationId xmlns:a16="http://schemas.microsoft.com/office/drawing/2014/main" id="{A66B873B-BE9F-79D5-9478-05877C4EF655}"/>
              </a:ext>
            </a:extLst>
          </p:cNvPr>
          <p:cNvPicPr>
            <a:picLocks noChangeAspect="1"/>
          </p:cNvPicPr>
          <p:nvPr/>
        </p:nvPicPr>
        <p:blipFill>
          <a:blip r:embed="rId6"/>
          <a:stretch>
            <a:fillRect/>
          </a:stretch>
        </p:blipFill>
        <p:spPr>
          <a:xfrm>
            <a:off x="1647458" y="3902272"/>
            <a:ext cx="2883901" cy="1234547"/>
          </a:xfrm>
          <a:prstGeom prst="rect">
            <a:avLst/>
          </a:prstGeom>
        </p:spPr>
      </p:pic>
      <p:pic>
        <p:nvPicPr>
          <p:cNvPr id="15" name="Picture 14">
            <a:extLst>
              <a:ext uri="{FF2B5EF4-FFF2-40B4-BE49-F238E27FC236}">
                <a16:creationId xmlns:a16="http://schemas.microsoft.com/office/drawing/2014/main" id="{26025EE8-864A-AD39-1D50-81FFBEC5D32C}"/>
              </a:ext>
            </a:extLst>
          </p:cNvPr>
          <p:cNvPicPr>
            <a:picLocks noChangeAspect="1"/>
          </p:cNvPicPr>
          <p:nvPr/>
        </p:nvPicPr>
        <p:blipFill>
          <a:blip r:embed="rId7"/>
          <a:stretch>
            <a:fillRect/>
          </a:stretch>
        </p:blipFill>
        <p:spPr>
          <a:xfrm>
            <a:off x="5307261" y="3025086"/>
            <a:ext cx="2149026" cy="1565421"/>
          </a:xfrm>
          <a:prstGeom prst="rect">
            <a:avLst/>
          </a:prstGeom>
        </p:spPr>
      </p:pic>
      <p:pic>
        <p:nvPicPr>
          <p:cNvPr id="17" name="Picture 16">
            <a:extLst>
              <a:ext uri="{FF2B5EF4-FFF2-40B4-BE49-F238E27FC236}">
                <a16:creationId xmlns:a16="http://schemas.microsoft.com/office/drawing/2014/main" id="{89413231-D93A-E885-CF09-B1386B22EEA9}"/>
              </a:ext>
            </a:extLst>
          </p:cNvPr>
          <p:cNvPicPr>
            <a:picLocks noChangeAspect="1"/>
          </p:cNvPicPr>
          <p:nvPr/>
        </p:nvPicPr>
        <p:blipFill>
          <a:blip r:embed="rId8"/>
          <a:stretch>
            <a:fillRect/>
          </a:stretch>
        </p:blipFill>
        <p:spPr>
          <a:xfrm>
            <a:off x="7938051" y="4447128"/>
            <a:ext cx="2883900" cy="1364392"/>
          </a:xfrm>
          <a:prstGeom prst="rect">
            <a:avLst/>
          </a:prstGeom>
        </p:spPr>
      </p:pic>
    </p:spTree>
    <p:extLst>
      <p:ext uri="{BB962C8B-B14F-4D97-AF65-F5344CB8AC3E}">
        <p14:creationId xmlns:p14="http://schemas.microsoft.com/office/powerpoint/2010/main" val="15454643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23EDD2-C09C-0DFD-BA39-7E11BAF35217}"/>
              </a:ext>
            </a:extLst>
          </p:cNvPr>
          <p:cNvSpPr>
            <a:spLocks noGrp="1"/>
          </p:cNvSpPr>
          <p:nvPr>
            <p:ph type="title"/>
          </p:nvPr>
        </p:nvSpPr>
        <p:spPr/>
        <p:txBody>
          <a:bodyPr/>
          <a:lstStyle/>
          <a:p>
            <a:r>
              <a:rPr lang="en-IN" b="1" dirty="0">
                <a:solidFill>
                  <a:srgbClr val="C00000"/>
                </a:solidFill>
              </a:rPr>
              <a:t>Why NLP?</a:t>
            </a:r>
          </a:p>
        </p:txBody>
      </p:sp>
      <p:sp>
        <p:nvSpPr>
          <p:cNvPr id="3" name="Content Placeholder 2">
            <a:extLst>
              <a:ext uri="{FF2B5EF4-FFF2-40B4-BE49-F238E27FC236}">
                <a16:creationId xmlns:a16="http://schemas.microsoft.com/office/drawing/2014/main" id="{851F9451-A8C3-EB6F-80B1-16A1955904CA}"/>
              </a:ext>
            </a:extLst>
          </p:cNvPr>
          <p:cNvSpPr>
            <a:spLocks noGrp="1"/>
          </p:cNvSpPr>
          <p:nvPr>
            <p:ph idx="1"/>
          </p:nvPr>
        </p:nvSpPr>
        <p:spPr/>
        <p:txBody>
          <a:bodyPr>
            <a:normAutofit/>
          </a:bodyPr>
          <a:lstStyle/>
          <a:p>
            <a:r>
              <a:rPr lang="en-IN" b="1" dirty="0"/>
              <a:t>Facilitates Communication</a:t>
            </a:r>
          </a:p>
          <a:p>
            <a:r>
              <a:rPr lang="en-IN" b="1" dirty="0"/>
              <a:t>Extracts Meaningful Information</a:t>
            </a:r>
          </a:p>
          <a:p>
            <a:r>
              <a:rPr lang="en-IN" b="1" dirty="0"/>
              <a:t>Derives Insights</a:t>
            </a:r>
          </a:p>
          <a:p>
            <a:r>
              <a:rPr lang="en-IN" b="1" dirty="0"/>
              <a:t>Automates Tasks</a:t>
            </a:r>
          </a:p>
          <a:p>
            <a:r>
              <a:rPr lang="en-IN" b="1" dirty="0"/>
              <a:t>Personalizes Experiences</a:t>
            </a:r>
            <a:endParaRPr lang="en-IN" dirty="0"/>
          </a:p>
        </p:txBody>
      </p:sp>
    </p:spTree>
    <p:extLst>
      <p:ext uri="{BB962C8B-B14F-4D97-AF65-F5344CB8AC3E}">
        <p14:creationId xmlns:p14="http://schemas.microsoft.com/office/powerpoint/2010/main" val="14659658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A620F6-CBAE-C02D-AF5D-277D8EC8B7EA}"/>
              </a:ext>
            </a:extLst>
          </p:cNvPr>
          <p:cNvSpPr>
            <a:spLocks noGrp="1"/>
          </p:cNvSpPr>
          <p:nvPr>
            <p:ph type="title"/>
          </p:nvPr>
        </p:nvSpPr>
        <p:spPr/>
        <p:txBody>
          <a:bodyPr/>
          <a:lstStyle/>
          <a:p>
            <a:r>
              <a:rPr lang="en-IN" b="1" dirty="0"/>
              <a:t>NLP Pipeline</a:t>
            </a:r>
          </a:p>
        </p:txBody>
      </p:sp>
      <p:sp>
        <p:nvSpPr>
          <p:cNvPr id="3" name="Content Placeholder 2">
            <a:extLst>
              <a:ext uri="{FF2B5EF4-FFF2-40B4-BE49-F238E27FC236}">
                <a16:creationId xmlns:a16="http://schemas.microsoft.com/office/drawing/2014/main" id="{D127C246-D81A-6098-B383-77487C7D44F0}"/>
              </a:ext>
            </a:extLst>
          </p:cNvPr>
          <p:cNvSpPr>
            <a:spLocks noGrp="1"/>
          </p:cNvSpPr>
          <p:nvPr>
            <p:ph idx="1"/>
          </p:nvPr>
        </p:nvSpPr>
        <p:spPr>
          <a:xfrm>
            <a:off x="548640" y="1825625"/>
            <a:ext cx="11216640" cy="4351338"/>
          </a:xfrm>
        </p:spPr>
        <p:txBody>
          <a:bodyPr/>
          <a:lstStyle/>
          <a:p>
            <a:pPr marL="0" indent="0">
              <a:buNone/>
            </a:pPr>
            <a:r>
              <a:rPr lang="en-IN" sz="2000" dirty="0"/>
              <a:t>Raw Text → Preprocessing → Vectorization → Model Training → Prediction → Evaluation → Deployment</a:t>
            </a:r>
          </a:p>
          <a:p>
            <a:endParaRPr lang="en-IN" dirty="0"/>
          </a:p>
        </p:txBody>
      </p:sp>
      <p:graphicFrame>
        <p:nvGraphicFramePr>
          <p:cNvPr id="4" name="Diagram 3">
            <a:extLst>
              <a:ext uri="{FF2B5EF4-FFF2-40B4-BE49-F238E27FC236}">
                <a16:creationId xmlns:a16="http://schemas.microsoft.com/office/drawing/2014/main" id="{A1A229F9-759C-D4D5-9C0B-324CEAEB7B05}"/>
              </a:ext>
            </a:extLst>
          </p:cNvPr>
          <p:cNvGraphicFramePr/>
          <p:nvPr>
            <p:extLst>
              <p:ext uri="{D42A27DB-BD31-4B8C-83A1-F6EECF244321}">
                <p14:modId xmlns:p14="http://schemas.microsoft.com/office/powerpoint/2010/main" val="3968784124"/>
              </p:ext>
            </p:extLst>
          </p:nvPr>
        </p:nvGraphicFramePr>
        <p:xfrm>
          <a:off x="335280" y="568960"/>
          <a:ext cx="11308080" cy="556937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6953781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489288-FDE0-58B1-9BE8-329BA9A19758}"/>
              </a:ext>
            </a:extLst>
          </p:cNvPr>
          <p:cNvSpPr>
            <a:spLocks noGrp="1"/>
          </p:cNvSpPr>
          <p:nvPr>
            <p:ph type="title"/>
          </p:nvPr>
        </p:nvSpPr>
        <p:spPr>
          <a:xfrm>
            <a:off x="838200" y="365125"/>
            <a:ext cx="10515600" cy="661035"/>
          </a:xfrm>
        </p:spPr>
        <p:txBody>
          <a:bodyPr>
            <a:noAutofit/>
          </a:bodyPr>
          <a:lstStyle/>
          <a:p>
            <a:r>
              <a:rPr lang="en-IN" b="1" dirty="0">
                <a:solidFill>
                  <a:srgbClr val="C00000"/>
                </a:solidFill>
              </a:rPr>
              <a:t>1 Text Preprocessing</a:t>
            </a:r>
          </a:p>
        </p:txBody>
      </p:sp>
      <p:sp>
        <p:nvSpPr>
          <p:cNvPr id="3" name="Content Placeholder 2">
            <a:extLst>
              <a:ext uri="{FF2B5EF4-FFF2-40B4-BE49-F238E27FC236}">
                <a16:creationId xmlns:a16="http://schemas.microsoft.com/office/drawing/2014/main" id="{2C0F1A53-238D-3935-B267-9590C3056497}"/>
              </a:ext>
            </a:extLst>
          </p:cNvPr>
          <p:cNvSpPr>
            <a:spLocks noGrp="1"/>
          </p:cNvSpPr>
          <p:nvPr>
            <p:ph idx="1"/>
          </p:nvPr>
        </p:nvSpPr>
        <p:spPr>
          <a:xfrm>
            <a:off x="838200" y="1259840"/>
            <a:ext cx="10515600" cy="4917123"/>
          </a:xfrm>
        </p:spPr>
        <p:txBody>
          <a:bodyPr>
            <a:normAutofit fontScale="77500" lnSpcReduction="20000"/>
          </a:bodyPr>
          <a:lstStyle/>
          <a:p>
            <a:pPr marL="0" indent="0">
              <a:buNone/>
            </a:pPr>
            <a:r>
              <a:rPr lang="en-US" b="1" dirty="0"/>
              <a:t>1. Lowercasing</a:t>
            </a:r>
          </a:p>
          <a:p>
            <a:r>
              <a:rPr lang="en-US" dirty="0"/>
              <a:t>Convert all text to lowercase to avoid treating same words differently. </a:t>
            </a:r>
          </a:p>
          <a:p>
            <a:pPr marL="0" indent="0">
              <a:buNone/>
            </a:pPr>
            <a:r>
              <a:rPr lang="en-US" dirty="0"/>
              <a:t>                                                     "I LOVE this Movie" → "i love this movie"</a:t>
            </a:r>
          </a:p>
          <a:p>
            <a:pPr marL="0" indent="0">
              <a:buNone/>
            </a:pPr>
            <a:r>
              <a:rPr lang="en-US" b="1" dirty="0"/>
              <a:t>2. Removing Noise</a:t>
            </a:r>
          </a:p>
          <a:p>
            <a:r>
              <a:rPr lang="en-US" dirty="0"/>
              <a:t>Remove unnecessary characters:</a:t>
            </a:r>
          </a:p>
          <a:p>
            <a:pPr lvl="1"/>
            <a:r>
              <a:rPr lang="en-US" dirty="0"/>
              <a:t>Punctuation (., ! ?)</a:t>
            </a:r>
          </a:p>
          <a:p>
            <a:pPr lvl="1"/>
            <a:r>
              <a:rPr lang="en-US" dirty="0"/>
              <a:t>Numbers (if not useful)</a:t>
            </a:r>
          </a:p>
          <a:p>
            <a:pPr lvl="1"/>
            <a:r>
              <a:rPr lang="en-US" dirty="0"/>
              <a:t>Emojis (optional)</a:t>
            </a:r>
          </a:p>
          <a:p>
            <a:pPr lvl="1"/>
            <a:r>
              <a:rPr lang="en-US" dirty="0"/>
              <a:t>Special symbols (@ # $ %)</a:t>
            </a:r>
          </a:p>
          <a:p>
            <a:pPr marL="0" indent="0">
              <a:buNone/>
            </a:pPr>
            <a:r>
              <a:rPr lang="en-US" dirty="0"/>
              <a:t>                               "I loved this movie!!! 10/10" → "i loved this movie“</a:t>
            </a:r>
          </a:p>
          <a:p>
            <a:pPr marL="0" indent="0">
              <a:buNone/>
            </a:pPr>
            <a:r>
              <a:rPr lang="en-US" dirty="0"/>
              <a:t>3</a:t>
            </a:r>
            <a:r>
              <a:rPr lang="en-US" b="1" dirty="0"/>
              <a:t>. </a:t>
            </a:r>
            <a:r>
              <a:rPr lang="en-IN" b="1" dirty="0"/>
              <a:t>Object Standardization</a:t>
            </a:r>
          </a:p>
          <a:p>
            <a:pPr marL="0" indent="0">
              <a:buNone/>
            </a:pPr>
            <a:r>
              <a:rPr lang="en-US" dirty="0"/>
              <a:t>Text data often contains words or phrases which are not present in any standard lexical dictionaries. These pieces are not recognized by search engines and models.</a:t>
            </a:r>
          </a:p>
          <a:p>
            <a:pPr marL="0" indent="0">
              <a:buNone/>
            </a:pPr>
            <a:r>
              <a:rPr lang="en-IN" dirty="0" err="1"/>
              <a:t>lookup_dict</a:t>
            </a:r>
            <a:r>
              <a:rPr lang="en-IN" dirty="0"/>
              <a:t> = {'</a:t>
            </a:r>
            <a:r>
              <a:rPr lang="en-IN" dirty="0" err="1"/>
              <a:t>rt':'Retweet</a:t>
            </a:r>
            <a:r>
              <a:rPr lang="en-IN" dirty="0"/>
              <a:t>', '</a:t>
            </a:r>
            <a:r>
              <a:rPr lang="en-IN" dirty="0" err="1"/>
              <a:t>dm':'direct</a:t>
            </a:r>
            <a:r>
              <a:rPr lang="en-IN" dirty="0"/>
              <a:t> message', "</a:t>
            </a:r>
            <a:r>
              <a:rPr lang="en-IN" dirty="0" err="1"/>
              <a:t>awsm</a:t>
            </a:r>
            <a:r>
              <a:rPr lang="en-IN" dirty="0"/>
              <a:t>" : "awesome", "luv" :"love", "..."} </a:t>
            </a:r>
          </a:p>
          <a:p>
            <a:endParaRPr lang="en-IN" dirty="0"/>
          </a:p>
        </p:txBody>
      </p:sp>
    </p:spTree>
    <p:extLst>
      <p:ext uri="{BB962C8B-B14F-4D97-AF65-F5344CB8AC3E}">
        <p14:creationId xmlns:p14="http://schemas.microsoft.com/office/powerpoint/2010/main" val="6109058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6EC67C-7FB3-0EDD-8462-728F006FD95D}"/>
              </a:ext>
            </a:extLst>
          </p:cNvPr>
          <p:cNvSpPr>
            <a:spLocks noGrp="1"/>
          </p:cNvSpPr>
          <p:nvPr>
            <p:ph type="title"/>
          </p:nvPr>
        </p:nvSpPr>
        <p:spPr>
          <a:xfrm>
            <a:off x="838200" y="365125"/>
            <a:ext cx="10515600" cy="772795"/>
          </a:xfrm>
        </p:spPr>
        <p:txBody>
          <a:bodyPr/>
          <a:lstStyle/>
          <a:p>
            <a:r>
              <a:rPr lang="en-IN" b="1" dirty="0">
                <a:solidFill>
                  <a:srgbClr val="C00000"/>
                </a:solidFill>
              </a:rPr>
              <a:t>Text Preprocessing                              cont..</a:t>
            </a:r>
            <a:endParaRPr lang="en-IN" dirty="0"/>
          </a:p>
        </p:txBody>
      </p:sp>
      <p:sp>
        <p:nvSpPr>
          <p:cNvPr id="3" name="Content Placeholder 2">
            <a:extLst>
              <a:ext uri="{FF2B5EF4-FFF2-40B4-BE49-F238E27FC236}">
                <a16:creationId xmlns:a16="http://schemas.microsoft.com/office/drawing/2014/main" id="{5F6AEE72-AEF8-EFCA-CEB7-22CE3AA54196}"/>
              </a:ext>
            </a:extLst>
          </p:cNvPr>
          <p:cNvSpPr>
            <a:spLocks noGrp="1"/>
          </p:cNvSpPr>
          <p:nvPr>
            <p:ph idx="1"/>
          </p:nvPr>
        </p:nvSpPr>
        <p:spPr>
          <a:xfrm>
            <a:off x="838200" y="1249680"/>
            <a:ext cx="10515600" cy="4927283"/>
          </a:xfrm>
        </p:spPr>
        <p:txBody>
          <a:bodyPr/>
          <a:lstStyle/>
          <a:p>
            <a:pPr marL="0" indent="0">
              <a:buNone/>
            </a:pPr>
            <a:r>
              <a:rPr lang="en-US" b="1" dirty="0"/>
              <a:t>4. Stopword Removal</a:t>
            </a:r>
          </a:p>
          <a:p>
            <a:r>
              <a:rPr lang="en-US" dirty="0"/>
              <a:t>Remove commonly used words that do not contribute meaning.</a:t>
            </a:r>
            <a:br>
              <a:rPr lang="en-US" dirty="0"/>
            </a:br>
            <a:r>
              <a:rPr lang="en-US" dirty="0"/>
              <a:t>Examples: </a:t>
            </a:r>
            <a:r>
              <a:rPr lang="en-US" i="1" dirty="0"/>
              <a:t>the, a, an, is, of, with, and</a:t>
            </a:r>
            <a:endParaRPr lang="en-US" dirty="0"/>
          </a:p>
          <a:p>
            <a:pPr marL="0" indent="0">
              <a:buNone/>
            </a:pPr>
            <a:r>
              <a:rPr lang="en-US" dirty="0"/>
              <a:t>               ["i", "loved", "this", "movie"] → ["loved", "movie"]</a:t>
            </a:r>
          </a:p>
          <a:p>
            <a:pPr marL="0" indent="0">
              <a:buNone/>
            </a:pPr>
            <a:r>
              <a:rPr lang="en-US" b="1" dirty="0"/>
              <a:t>5. Lexicon Normalization - Stemming / Lemmatization</a:t>
            </a:r>
          </a:p>
          <a:p>
            <a:r>
              <a:rPr lang="en-US" dirty="0"/>
              <a:t>Convert words to their root form.</a:t>
            </a:r>
          </a:p>
          <a:p>
            <a:pPr marL="0" indent="0">
              <a:buNone/>
            </a:pPr>
            <a:endParaRPr lang="en-IN" dirty="0"/>
          </a:p>
        </p:txBody>
      </p:sp>
      <p:graphicFrame>
        <p:nvGraphicFramePr>
          <p:cNvPr id="12" name="Table 11">
            <a:extLst>
              <a:ext uri="{FF2B5EF4-FFF2-40B4-BE49-F238E27FC236}">
                <a16:creationId xmlns:a16="http://schemas.microsoft.com/office/drawing/2014/main" id="{14A1275E-ECB0-D765-CD8D-8A6B97C70D8D}"/>
              </a:ext>
            </a:extLst>
          </p:cNvPr>
          <p:cNvGraphicFramePr>
            <a:graphicFrameLocks noGrp="1"/>
          </p:cNvGraphicFramePr>
          <p:nvPr>
            <p:extLst>
              <p:ext uri="{D42A27DB-BD31-4B8C-83A1-F6EECF244321}">
                <p14:modId xmlns:p14="http://schemas.microsoft.com/office/powerpoint/2010/main" val="811106936"/>
              </p:ext>
            </p:extLst>
          </p:nvPr>
        </p:nvGraphicFramePr>
        <p:xfrm>
          <a:off x="1214120" y="4407694"/>
          <a:ext cx="10515600" cy="1097280"/>
        </p:xfrm>
        <a:graphic>
          <a:graphicData uri="http://schemas.openxmlformats.org/drawingml/2006/table">
            <a:tbl>
              <a:tblPr/>
              <a:tblGrid>
                <a:gridCol w="3505200">
                  <a:extLst>
                    <a:ext uri="{9D8B030D-6E8A-4147-A177-3AD203B41FA5}">
                      <a16:colId xmlns:a16="http://schemas.microsoft.com/office/drawing/2014/main" val="33232130"/>
                    </a:ext>
                  </a:extLst>
                </a:gridCol>
                <a:gridCol w="3505200">
                  <a:extLst>
                    <a:ext uri="{9D8B030D-6E8A-4147-A177-3AD203B41FA5}">
                      <a16:colId xmlns:a16="http://schemas.microsoft.com/office/drawing/2014/main" val="4060986003"/>
                    </a:ext>
                  </a:extLst>
                </a:gridCol>
                <a:gridCol w="3505200">
                  <a:extLst>
                    <a:ext uri="{9D8B030D-6E8A-4147-A177-3AD203B41FA5}">
                      <a16:colId xmlns:a16="http://schemas.microsoft.com/office/drawing/2014/main" val="875330853"/>
                    </a:ext>
                  </a:extLst>
                </a:gridCol>
              </a:tblGrid>
              <a:tr h="0">
                <a:tc>
                  <a:txBody>
                    <a:bodyPr/>
                    <a:lstStyle/>
                    <a:p>
                      <a:pPr>
                        <a:buNone/>
                      </a:pPr>
                      <a:r>
                        <a:rPr lang="en-IN"/>
                        <a:t>Step</a:t>
                      </a:r>
                    </a:p>
                  </a:txBody>
                  <a:tcPr anchor="ctr">
                    <a:lnL>
                      <a:noFill/>
                    </a:lnL>
                    <a:lnR>
                      <a:noFill/>
                    </a:lnR>
                    <a:lnT>
                      <a:noFill/>
                    </a:lnT>
                    <a:lnB>
                      <a:noFill/>
                    </a:lnB>
                    <a:noFill/>
                  </a:tcPr>
                </a:tc>
                <a:tc>
                  <a:txBody>
                    <a:bodyPr/>
                    <a:lstStyle/>
                    <a:p>
                      <a:pPr>
                        <a:buNone/>
                      </a:pPr>
                      <a:r>
                        <a:rPr lang="en-IN"/>
                        <a:t>Example</a:t>
                      </a:r>
                    </a:p>
                  </a:txBody>
                  <a:tcPr anchor="ctr">
                    <a:lnL>
                      <a:noFill/>
                    </a:lnL>
                    <a:lnR>
                      <a:noFill/>
                    </a:lnR>
                    <a:lnT>
                      <a:noFill/>
                    </a:lnT>
                    <a:lnB>
                      <a:noFill/>
                    </a:lnB>
                    <a:noFill/>
                  </a:tcPr>
                </a:tc>
                <a:tc>
                  <a:txBody>
                    <a:bodyPr/>
                    <a:lstStyle/>
                    <a:p>
                      <a:pPr>
                        <a:buNone/>
                      </a:pPr>
                      <a:r>
                        <a:rPr lang="en-IN"/>
                        <a:t>Output</a:t>
                      </a:r>
                    </a:p>
                  </a:txBody>
                  <a:tcPr anchor="ctr">
                    <a:lnL>
                      <a:noFill/>
                    </a:lnL>
                    <a:lnR>
                      <a:noFill/>
                    </a:lnR>
                    <a:lnT>
                      <a:noFill/>
                    </a:lnT>
                    <a:lnB>
                      <a:noFill/>
                    </a:lnB>
                    <a:noFill/>
                  </a:tcPr>
                </a:tc>
                <a:extLst>
                  <a:ext uri="{0D108BD9-81ED-4DB2-BD59-A6C34878D82A}">
                    <a16:rowId xmlns:a16="http://schemas.microsoft.com/office/drawing/2014/main" val="562139080"/>
                  </a:ext>
                </a:extLst>
              </a:tr>
              <a:tr h="0">
                <a:tc>
                  <a:txBody>
                    <a:bodyPr/>
                    <a:lstStyle/>
                    <a:p>
                      <a:pPr>
                        <a:buNone/>
                      </a:pPr>
                      <a:r>
                        <a:rPr lang="en-IN"/>
                        <a:t>Stemming</a:t>
                      </a:r>
                    </a:p>
                  </a:txBody>
                  <a:tcPr anchor="ctr">
                    <a:lnL>
                      <a:noFill/>
                    </a:lnL>
                    <a:lnR>
                      <a:noFill/>
                    </a:lnR>
                    <a:lnT>
                      <a:noFill/>
                    </a:lnT>
                    <a:lnB>
                      <a:noFill/>
                    </a:lnB>
                    <a:noFill/>
                  </a:tcPr>
                </a:tc>
                <a:tc>
                  <a:txBody>
                    <a:bodyPr/>
                    <a:lstStyle/>
                    <a:p>
                      <a:pPr>
                        <a:buNone/>
                      </a:pPr>
                      <a:r>
                        <a:rPr lang="en-IN"/>
                        <a:t>"playing", "played"</a:t>
                      </a:r>
                    </a:p>
                  </a:txBody>
                  <a:tcPr anchor="ctr">
                    <a:lnL>
                      <a:noFill/>
                    </a:lnL>
                    <a:lnR>
                      <a:noFill/>
                    </a:lnR>
                    <a:lnT>
                      <a:noFill/>
                    </a:lnT>
                    <a:lnB>
                      <a:noFill/>
                    </a:lnB>
                    <a:noFill/>
                  </a:tcPr>
                </a:tc>
                <a:tc>
                  <a:txBody>
                    <a:bodyPr/>
                    <a:lstStyle/>
                    <a:p>
                      <a:pPr>
                        <a:buNone/>
                      </a:pPr>
                      <a:r>
                        <a:rPr lang="en-IN"/>
                        <a:t>"play"</a:t>
                      </a:r>
                    </a:p>
                  </a:txBody>
                  <a:tcPr anchor="ctr">
                    <a:lnL>
                      <a:noFill/>
                    </a:lnL>
                    <a:lnR>
                      <a:noFill/>
                    </a:lnR>
                    <a:lnT>
                      <a:noFill/>
                    </a:lnT>
                    <a:lnB>
                      <a:noFill/>
                    </a:lnB>
                    <a:noFill/>
                  </a:tcPr>
                </a:tc>
                <a:extLst>
                  <a:ext uri="{0D108BD9-81ED-4DB2-BD59-A6C34878D82A}">
                    <a16:rowId xmlns:a16="http://schemas.microsoft.com/office/drawing/2014/main" val="1880186942"/>
                  </a:ext>
                </a:extLst>
              </a:tr>
              <a:tr h="0">
                <a:tc>
                  <a:txBody>
                    <a:bodyPr/>
                    <a:lstStyle/>
                    <a:p>
                      <a:pPr>
                        <a:buNone/>
                      </a:pPr>
                      <a:r>
                        <a:rPr lang="en-IN"/>
                        <a:t>Lemmatization</a:t>
                      </a:r>
                    </a:p>
                  </a:txBody>
                  <a:tcPr anchor="ctr">
                    <a:lnL>
                      <a:noFill/>
                    </a:lnL>
                    <a:lnR>
                      <a:noFill/>
                    </a:lnR>
                    <a:lnT>
                      <a:noFill/>
                    </a:lnT>
                    <a:lnB>
                      <a:noFill/>
                    </a:lnB>
                    <a:noFill/>
                  </a:tcPr>
                </a:tc>
                <a:tc>
                  <a:txBody>
                    <a:bodyPr/>
                    <a:lstStyle/>
                    <a:p>
                      <a:pPr>
                        <a:buNone/>
                      </a:pPr>
                      <a:r>
                        <a:rPr lang="en-IN"/>
                        <a:t>"better"</a:t>
                      </a:r>
                    </a:p>
                  </a:txBody>
                  <a:tcPr anchor="ctr">
                    <a:lnL>
                      <a:noFill/>
                    </a:lnL>
                    <a:lnR>
                      <a:noFill/>
                    </a:lnR>
                    <a:lnT>
                      <a:noFill/>
                    </a:lnT>
                    <a:lnB>
                      <a:noFill/>
                    </a:lnB>
                    <a:noFill/>
                  </a:tcPr>
                </a:tc>
                <a:tc>
                  <a:txBody>
                    <a:bodyPr/>
                    <a:lstStyle/>
                    <a:p>
                      <a:pPr>
                        <a:buNone/>
                      </a:pPr>
                      <a:r>
                        <a:rPr lang="en-IN" dirty="0"/>
                        <a:t>"good"</a:t>
                      </a:r>
                    </a:p>
                  </a:txBody>
                  <a:tcPr anchor="ctr">
                    <a:lnL>
                      <a:noFill/>
                    </a:lnL>
                    <a:lnR>
                      <a:noFill/>
                    </a:lnR>
                    <a:lnT>
                      <a:noFill/>
                    </a:lnT>
                    <a:lnB>
                      <a:noFill/>
                    </a:lnB>
                    <a:noFill/>
                  </a:tcPr>
                </a:tc>
                <a:extLst>
                  <a:ext uri="{0D108BD9-81ED-4DB2-BD59-A6C34878D82A}">
                    <a16:rowId xmlns:a16="http://schemas.microsoft.com/office/drawing/2014/main" val="522108773"/>
                  </a:ext>
                </a:extLst>
              </a:tr>
            </a:tbl>
          </a:graphicData>
        </a:graphic>
      </p:graphicFrame>
    </p:spTree>
    <p:extLst>
      <p:ext uri="{BB962C8B-B14F-4D97-AF65-F5344CB8AC3E}">
        <p14:creationId xmlns:p14="http://schemas.microsoft.com/office/powerpoint/2010/main" val="18290077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FCC878-4B8A-F494-F21F-2E7F69622A3F}"/>
              </a:ext>
            </a:extLst>
          </p:cNvPr>
          <p:cNvSpPr>
            <a:spLocks noGrp="1"/>
          </p:cNvSpPr>
          <p:nvPr>
            <p:ph type="title"/>
          </p:nvPr>
        </p:nvSpPr>
        <p:spPr/>
        <p:txBody>
          <a:bodyPr>
            <a:normAutofit/>
          </a:bodyPr>
          <a:lstStyle/>
          <a:p>
            <a:r>
              <a:rPr lang="en-US" b="1" dirty="0">
                <a:solidFill>
                  <a:srgbClr val="C00000"/>
                </a:solidFill>
              </a:rPr>
              <a:t>2.Text to Features (Feature Engineering on text data)</a:t>
            </a:r>
            <a:endParaRPr lang="en-IN" b="1" dirty="0">
              <a:solidFill>
                <a:srgbClr val="C00000"/>
              </a:solidFill>
            </a:endParaRPr>
          </a:p>
        </p:txBody>
      </p:sp>
      <p:sp>
        <p:nvSpPr>
          <p:cNvPr id="3" name="Content Placeholder 2">
            <a:extLst>
              <a:ext uri="{FF2B5EF4-FFF2-40B4-BE49-F238E27FC236}">
                <a16:creationId xmlns:a16="http://schemas.microsoft.com/office/drawing/2014/main" id="{DA7C2662-CF4F-FD42-EA22-30EC50409823}"/>
              </a:ext>
            </a:extLst>
          </p:cNvPr>
          <p:cNvSpPr>
            <a:spLocks noGrp="1"/>
          </p:cNvSpPr>
          <p:nvPr>
            <p:ph idx="1"/>
          </p:nvPr>
        </p:nvSpPr>
        <p:spPr/>
        <p:txBody>
          <a:bodyPr/>
          <a:lstStyle/>
          <a:p>
            <a:pPr marL="0" indent="0">
              <a:buNone/>
            </a:pPr>
            <a:r>
              <a:rPr lang="en-US" dirty="0"/>
              <a:t>To analyze a preprocessed data, it needs to be converted into features.</a:t>
            </a:r>
          </a:p>
          <a:p>
            <a:r>
              <a:rPr lang="en-US" dirty="0"/>
              <a:t>Syntactic Parsing</a:t>
            </a:r>
          </a:p>
          <a:p>
            <a:pPr marL="0" indent="0" algn="just">
              <a:buNone/>
            </a:pPr>
            <a:r>
              <a:rPr lang="en-US" dirty="0"/>
              <a:t>Syntactical parsing involves the analysis of words in the sentence for grammar and their arrangement in a manner that shows the relationships among the words. </a:t>
            </a:r>
          </a:p>
          <a:p>
            <a:pPr marL="0" indent="0" algn="just">
              <a:buNone/>
            </a:pPr>
            <a:r>
              <a:rPr lang="en-US" dirty="0"/>
              <a:t>Dependency Grammar and Part of Speech tags are the important attributes of text syntactics.</a:t>
            </a:r>
          </a:p>
          <a:p>
            <a:pPr marL="0" indent="0">
              <a:buNone/>
            </a:pPr>
            <a:r>
              <a:rPr lang="en-US" dirty="0"/>
              <a:t> </a:t>
            </a:r>
            <a:endParaRPr lang="en-IN" dirty="0"/>
          </a:p>
        </p:txBody>
      </p:sp>
    </p:spTree>
    <p:extLst>
      <p:ext uri="{BB962C8B-B14F-4D97-AF65-F5344CB8AC3E}">
        <p14:creationId xmlns:p14="http://schemas.microsoft.com/office/powerpoint/2010/main" val="3473716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166B13-5D65-1447-D278-8F47F117B50C}"/>
              </a:ext>
            </a:extLst>
          </p:cNvPr>
          <p:cNvSpPr>
            <a:spLocks noGrp="1"/>
          </p:cNvSpPr>
          <p:nvPr>
            <p:ph type="title"/>
          </p:nvPr>
        </p:nvSpPr>
        <p:spPr/>
        <p:txBody>
          <a:bodyPr/>
          <a:lstStyle/>
          <a:p>
            <a:r>
              <a:rPr lang="en-US" b="1" dirty="0">
                <a:solidFill>
                  <a:srgbClr val="C00000"/>
                </a:solidFill>
              </a:rPr>
              <a:t>2.1Text to Features (Feature Engineering on text data)- </a:t>
            </a:r>
            <a:r>
              <a:rPr lang="en-IN" b="1" i="1" dirty="0">
                <a:solidFill>
                  <a:schemeClr val="accent5">
                    <a:lumMod val="50000"/>
                  </a:schemeClr>
                </a:solidFill>
              </a:rPr>
              <a:t>Dependency Grammer</a:t>
            </a:r>
          </a:p>
        </p:txBody>
      </p:sp>
      <p:pic>
        <p:nvPicPr>
          <p:cNvPr id="5" name="Content Placeholder 4">
            <a:extLst>
              <a:ext uri="{FF2B5EF4-FFF2-40B4-BE49-F238E27FC236}">
                <a16:creationId xmlns:a16="http://schemas.microsoft.com/office/drawing/2014/main" id="{4100F8D5-088E-7029-3E87-95A250B3881D}"/>
              </a:ext>
            </a:extLst>
          </p:cNvPr>
          <p:cNvPicPr>
            <a:picLocks noGrp="1" noChangeAspect="1"/>
          </p:cNvPicPr>
          <p:nvPr>
            <p:ph idx="1"/>
          </p:nvPr>
        </p:nvPicPr>
        <p:blipFill>
          <a:blip r:embed="rId2"/>
          <a:stretch>
            <a:fillRect/>
          </a:stretch>
        </p:blipFill>
        <p:spPr>
          <a:xfrm>
            <a:off x="3238500" y="2010569"/>
            <a:ext cx="5715000" cy="3981450"/>
          </a:xfrm>
          <a:prstGeom prst="rect">
            <a:avLst/>
          </a:prstGeom>
        </p:spPr>
      </p:pic>
    </p:spTree>
    <p:extLst>
      <p:ext uri="{BB962C8B-B14F-4D97-AF65-F5344CB8AC3E}">
        <p14:creationId xmlns:p14="http://schemas.microsoft.com/office/powerpoint/2010/main" val="40865638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0D4F92-E4E3-64B2-E0EF-30107437E2AA}"/>
              </a:ext>
            </a:extLst>
          </p:cNvPr>
          <p:cNvSpPr>
            <a:spLocks noGrp="1"/>
          </p:cNvSpPr>
          <p:nvPr>
            <p:ph type="title"/>
          </p:nvPr>
        </p:nvSpPr>
        <p:spPr/>
        <p:txBody>
          <a:bodyPr/>
          <a:lstStyle/>
          <a:p>
            <a:r>
              <a:rPr lang="en-US" b="1" dirty="0">
                <a:solidFill>
                  <a:srgbClr val="C00000"/>
                </a:solidFill>
              </a:rPr>
              <a:t>2.1Text to Features (Feature Engineering on text data)- </a:t>
            </a:r>
            <a:r>
              <a:rPr lang="en-IN" b="1" i="1" dirty="0">
                <a:solidFill>
                  <a:schemeClr val="accent5">
                    <a:lumMod val="50000"/>
                  </a:schemeClr>
                </a:solidFill>
              </a:rPr>
              <a:t>Parts of Speech(POS) Tagging </a:t>
            </a:r>
          </a:p>
        </p:txBody>
      </p:sp>
      <p:pic>
        <p:nvPicPr>
          <p:cNvPr id="5" name="Content Placeholder 4">
            <a:extLst>
              <a:ext uri="{FF2B5EF4-FFF2-40B4-BE49-F238E27FC236}">
                <a16:creationId xmlns:a16="http://schemas.microsoft.com/office/drawing/2014/main" id="{71399C8F-128F-4734-F5EC-23CB94B1B309}"/>
              </a:ext>
            </a:extLst>
          </p:cNvPr>
          <p:cNvPicPr>
            <a:picLocks noGrp="1" noChangeAspect="1"/>
          </p:cNvPicPr>
          <p:nvPr>
            <p:ph idx="1"/>
          </p:nvPr>
        </p:nvPicPr>
        <p:blipFill>
          <a:blip r:embed="rId2"/>
          <a:stretch>
            <a:fillRect/>
          </a:stretch>
        </p:blipFill>
        <p:spPr>
          <a:xfrm>
            <a:off x="1503680" y="1825625"/>
            <a:ext cx="8849359" cy="4351338"/>
          </a:xfrm>
          <a:prstGeom prst="rect">
            <a:avLst/>
          </a:prstGeom>
        </p:spPr>
      </p:pic>
    </p:spTree>
    <p:extLst>
      <p:ext uri="{BB962C8B-B14F-4D97-AF65-F5344CB8AC3E}">
        <p14:creationId xmlns:p14="http://schemas.microsoft.com/office/powerpoint/2010/main" val="35408375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3B07AB-71A6-4DEB-C7CD-CBC9B2BEAB12}"/>
              </a:ext>
            </a:extLst>
          </p:cNvPr>
          <p:cNvSpPr>
            <a:spLocks noGrp="1"/>
          </p:cNvSpPr>
          <p:nvPr>
            <p:ph type="title"/>
          </p:nvPr>
        </p:nvSpPr>
        <p:spPr>
          <a:xfrm>
            <a:off x="838200" y="365125"/>
            <a:ext cx="10515600" cy="711835"/>
          </a:xfrm>
        </p:spPr>
        <p:txBody>
          <a:bodyPr/>
          <a:lstStyle/>
          <a:p>
            <a:r>
              <a:rPr lang="en-IN" b="1" dirty="0">
                <a:solidFill>
                  <a:schemeClr val="accent5">
                    <a:lumMod val="50000"/>
                  </a:schemeClr>
                </a:solidFill>
              </a:rPr>
              <a:t>Importance of POS tagging</a:t>
            </a:r>
          </a:p>
        </p:txBody>
      </p:sp>
      <p:sp>
        <p:nvSpPr>
          <p:cNvPr id="3" name="Content Placeholder 2">
            <a:extLst>
              <a:ext uri="{FF2B5EF4-FFF2-40B4-BE49-F238E27FC236}">
                <a16:creationId xmlns:a16="http://schemas.microsoft.com/office/drawing/2014/main" id="{C86511E4-AAC1-11D8-DA2A-EE1ECC7D56DC}"/>
              </a:ext>
            </a:extLst>
          </p:cNvPr>
          <p:cNvSpPr>
            <a:spLocks noGrp="1"/>
          </p:cNvSpPr>
          <p:nvPr>
            <p:ph idx="1"/>
          </p:nvPr>
        </p:nvSpPr>
        <p:spPr>
          <a:xfrm>
            <a:off x="838200" y="1076960"/>
            <a:ext cx="10515600" cy="5100003"/>
          </a:xfrm>
        </p:spPr>
        <p:txBody>
          <a:bodyPr/>
          <a:lstStyle/>
          <a:p>
            <a:pPr marL="0" indent="0">
              <a:buNone/>
            </a:pPr>
            <a:r>
              <a:rPr lang="en-IN" b="1" dirty="0"/>
              <a:t>Word sense disambiguation </a:t>
            </a:r>
          </a:p>
          <a:p>
            <a:pPr marL="0" indent="0">
              <a:buNone/>
            </a:pPr>
            <a:endParaRPr lang="en-IN" dirty="0"/>
          </a:p>
        </p:txBody>
      </p:sp>
      <p:pic>
        <p:nvPicPr>
          <p:cNvPr id="5" name="Picture 4">
            <a:extLst>
              <a:ext uri="{FF2B5EF4-FFF2-40B4-BE49-F238E27FC236}">
                <a16:creationId xmlns:a16="http://schemas.microsoft.com/office/drawing/2014/main" id="{134BD753-7249-C287-6101-E2A3E270CA9D}"/>
              </a:ext>
            </a:extLst>
          </p:cNvPr>
          <p:cNvPicPr>
            <a:picLocks noChangeAspect="1"/>
          </p:cNvPicPr>
          <p:nvPr/>
        </p:nvPicPr>
        <p:blipFill>
          <a:blip r:embed="rId2"/>
          <a:srcRect l="11334" t="26083" r="1407" b="32593"/>
          <a:stretch>
            <a:fillRect/>
          </a:stretch>
        </p:blipFill>
        <p:spPr>
          <a:xfrm>
            <a:off x="2987320" y="1818836"/>
            <a:ext cx="5984240" cy="2834005"/>
          </a:xfrm>
          <a:prstGeom prst="rect">
            <a:avLst/>
          </a:prstGeom>
        </p:spPr>
      </p:pic>
      <p:pic>
        <p:nvPicPr>
          <p:cNvPr id="11" name="Graphic 10" descr="Money with solid fill">
            <a:extLst>
              <a:ext uri="{FF2B5EF4-FFF2-40B4-BE49-F238E27FC236}">
                <a16:creationId xmlns:a16="http://schemas.microsoft.com/office/drawing/2014/main" id="{DC02F392-BC67-C30A-D22B-5D0393037B0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814320" y="4591564"/>
            <a:ext cx="914400" cy="914400"/>
          </a:xfrm>
          <a:prstGeom prst="rect">
            <a:avLst/>
          </a:prstGeom>
        </p:spPr>
      </p:pic>
      <p:pic>
        <p:nvPicPr>
          <p:cNvPr id="13" name="Graphic 12" descr="Euro with solid fill">
            <a:extLst>
              <a:ext uri="{FF2B5EF4-FFF2-40B4-BE49-F238E27FC236}">
                <a16:creationId xmlns:a16="http://schemas.microsoft.com/office/drawing/2014/main" id="{677226D4-DBFB-1697-494A-C6EB6F11AA75}"/>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224160" y="4591564"/>
            <a:ext cx="914400" cy="914400"/>
          </a:xfrm>
          <a:prstGeom prst="rect">
            <a:avLst/>
          </a:prstGeom>
        </p:spPr>
      </p:pic>
      <p:pic>
        <p:nvPicPr>
          <p:cNvPr id="15" name="Graphic 14" descr="Dollar with solid fill">
            <a:extLst>
              <a:ext uri="{FF2B5EF4-FFF2-40B4-BE49-F238E27FC236}">
                <a16:creationId xmlns:a16="http://schemas.microsoft.com/office/drawing/2014/main" id="{3DDBC5B2-967E-5B1F-455C-B1D7186A9308}"/>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3581680" y="5323840"/>
            <a:ext cx="914400" cy="914400"/>
          </a:xfrm>
          <a:prstGeom prst="rect">
            <a:avLst/>
          </a:prstGeom>
        </p:spPr>
      </p:pic>
      <p:pic>
        <p:nvPicPr>
          <p:cNvPr id="17" name="Graphic 16" descr="Duck with solid fill">
            <a:extLst>
              <a:ext uri="{FF2B5EF4-FFF2-40B4-BE49-F238E27FC236}">
                <a16:creationId xmlns:a16="http://schemas.microsoft.com/office/drawing/2014/main" id="{70BBF2C7-E623-B223-7F3F-8986A2FD7930}"/>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7619720" y="4746877"/>
            <a:ext cx="914400" cy="914400"/>
          </a:xfrm>
          <a:prstGeom prst="rect">
            <a:avLst/>
          </a:prstGeom>
        </p:spPr>
      </p:pic>
      <p:pic>
        <p:nvPicPr>
          <p:cNvPr id="19" name="Graphic 18" descr="Tropical scene with solid fill">
            <a:extLst>
              <a:ext uri="{FF2B5EF4-FFF2-40B4-BE49-F238E27FC236}">
                <a16:creationId xmlns:a16="http://schemas.microsoft.com/office/drawing/2014/main" id="{D9E219A5-C3A5-480E-3B03-670DFB18500A}"/>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6379140" y="5025040"/>
            <a:ext cx="914400" cy="914400"/>
          </a:xfrm>
          <a:prstGeom prst="rect">
            <a:avLst/>
          </a:prstGeom>
        </p:spPr>
      </p:pic>
    </p:spTree>
    <p:extLst>
      <p:ext uri="{BB962C8B-B14F-4D97-AF65-F5344CB8AC3E}">
        <p14:creationId xmlns:p14="http://schemas.microsoft.com/office/powerpoint/2010/main" val="22716954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106109-47AA-4416-E380-4550A656B3FC}"/>
              </a:ext>
            </a:extLst>
          </p:cNvPr>
          <p:cNvSpPr>
            <a:spLocks noGrp="1"/>
          </p:cNvSpPr>
          <p:nvPr>
            <p:ph type="title"/>
          </p:nvPr>
        </p:nvSpPr>
        <p:spPr/>
        <p:txBody>
          <a:bodyPr/>
          <a:lstStyle/>
          <a:p>
            <a:r>
              <a:rPr lang="en-IN" b="1" dirty="0">
                <a:solidFill>
                  <a:srgbClr val="C00000"/>
                </a:solidFill>
              </a:rPr>
              <a:t>2.2Entity Extraction (Entities as features)</a:t>
            </a:r>
          </a:p>
        </p:txBody>
      </p:sp>
      <p:sp>
        <p:nvSpPr>
          <p:cNvPr id="3" name="Content Placeholder 2">
            <a:extLst>
              <a:ext uri="{FF2B5EF4-FFF2-40B4-BE49-F238E27FC236}">
                <a16:creationId xmlns:a16="http://schemas.microsoft.com/office/drawing/2014/main" id="{4EC7E2BB-448E-322A-7444-7762FA1F0606}"/>
              </a:ext>
            </a:extLst>
          </p:cNvPr>
          <p:cNvSpPr>
            <a:spLocks noGrp="1"/>
          </p:cNvSpPr>
          <p:nvPr>
            <p:ph idx="1"/>
          </p:nvPr>
        </p:nvSpPr>
        <p:spPr/>
        <p:txBody>
          <a:bodyPr/>
          <a:lstStyle/>
          <a:p>
            <a:pPr marL="0" indent="0" algn="just">
              <a:buNone/>
            </a:pPr>
            <a:r>
              <a:rPr lang="en-US" dirty="0"/>
              <a:t>Entity Detection algorithms are generally ensemble models of rule- based parsing, dictionary lookups, pos tagging and dependency parsing.</a:t>
            </a:r>
          </a:p>
          <a:p>
            <a:pPr marL="0" indent="0">
              <a:buNone/>
            </a:pPr>
            <a:r>
              <a:rPr lang="en-IN" b="1" dirty="0"/>
              <a:t>2.2.1Named Entity Recognition (NER)</a:t>
            </a:r>
          </a:p>
          <a:p>
            <a:pPr marL="0" indent="0">
              <a:buNone/>
            </a:pPr>
            <a:endParaRPr lang="en-IN" dirty="0"/>
          </a:p>
        </p:txBody>
      </p:sp>
      <p:pic>
        <p:nvPicPr>
          <p:cNvPr id="4" name="Picture 3">
            <a:extLst>
              <a:ext uri="{FF2B5EF4-FFF2-40B4-BE49-F238E27FC236}">
                <a16:creationId xmlns:a16="http://schemas.microsoft.com/office/drawing/2014/main" id="{9CB5EDB4-4DB2-BB90-6BDE-539A7C35185C}"/>
              </a:ext>
            </a:extLst>
          </p:cNvPr>
          <p:cNvPicPr>
            <a:picLocks noChangeAspect="1"/>
          </p:cNvPicPr>
          <p:nvPr/>
        </p:nvPicPr>
        <p:blipFill>
          <a:blip r:embed="rId2"/>
          <a:stretch>
            <a:fillRect/>
          </a:stretch>
        </p:blipFill>
        <p:spPr>
          <a:xfrm>
            <a:off x="1885950" y="3635375"/>
            <a:ext cx="8420100" cy="2857500"/>
          </a:xfrm>
          <a:prstGeom prst="rect">
            <a:avLst/>
          </a:prstGeom>
        </p:spPr>
      </p:pic>
    </p:spTree>
    <p:extLst>
      <p:ext uri="{BB962C8B-B14F-4D97-AF65-F5344CB8AC3E}">
        <p14:creationId xmlns:p14="http://schemas.microsoft.com/office/powerpoint/2010/main" val="386617727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8D53FB-9C45-D3F4-5A75-E812D5712E3C}"/>
              </a:ext>
            </a:extLst>
          </p:cNvPr>
          <p:cNvSpPr>
            <a:spLocks noGrp="1"/>
          </p:cNvSpPr>
          <p:nvPr>
            <p:ph type="title"/>
          </p:nvPr>
        </p:nvSpPr>
        <p:spPr/>
        <p:txBody>
          <a:bodyPr/>
          <a:lstStyle/>
          <a:p>
            <a:r>
              <a:rPr lang="en-US" b="1" dirty="0">
                <a:solidFill>
                  <a:srgbClr val="C00000"/>
                </a:solidFill>
              </a:rPr>
              <a:t>2.2.2.Topic Modeling</a:t>
            </a:r>
            <a:endParaRPr lang="en-IN" b="1" dirty="0">
              <a:solidFill>
                <a:srgbClr val="C00000"/>
              </a:solidFill>
            </a:endParaRPr>
          </a:p>
        </p:txBody>
      </p:sp>
      <p:sp>
        <p:nvSpPr>
          <p:cNvPr id="3" name="Content Placeholder 2">
            <a:extLst>
              <a:ext uri="{FF2B5EF4-FFF2-40B4-BE49-F238E27FC236}">
                <a16:creationId xmlns:a16="http://schemas.microsoft.com/office/drawing/2014/main" id="{BD470B77-29A9-B75B-C5FD-F93EF70A691B}"/>
              </a:ext>
            </a:extLst>
          </p:cNvPr>
          <p:cNvSpPr>
            <a:spLocks noGrp="1"/>
          </p:cNvSpPr>
          <p:nvPr>
            <p:ph idx="1"/>
          </p:nvPr>
        </p:nvSpPr>
        <p:spPr/>
        <p:txBody>
          <a:bodyPr/>
          <a:lstStyle/>
          <a:p>
            <a:pPr marL="0" indent="0" algn="just">
              <a:buNone/>
            </a:pPr>
            <a:r>
              <a:rPr lang="en-US" dirty="0"/>
              <a:t>Topic modeling is a process of automatically identifying the topics present in a text corpus, it derives the hidden patterns among the words in the corpus in an unsupervised manner. </a:t>
            </a:r>
          </a:p>
          <a:p>
            <a:pPr marL="0" indent="0" algn="just">
              <a:buNone/>
            </a:pPr>
            <a:r>
              <a:rPr lang="en-US" dirty="0"/>
              <a:t>Topics are defined as “a repeating pattern of co-occurring terms in a corpus”. </a:t>
            </a:r>
          </a:p>
          <a:p>
            <a:pPr marL="0" indent="0" algn="just">
              <a:buNone/>
            </a:pPr>
            <a:r>
              <a:rPr lang="en-US" dirty="0"/>
              <a:t>A good topic model results in – “health”, “doctor”, “patient”, “hospital” for a topic – Healthcare, and “farm”, “crops”, “wheat” for a topic – “Farming”.</a:t>
            </a:r>
          </a:p>
          <a:p>
            <a:endParaRPr lang="en-IN" dirty="0"/>
          </a:p>
        </p:txBody>
      </p:sp>
    </p:spTree>
    <p:extLst>
      <p:ext uri="{BB962C8B-B14F-4D97-AF65-F5344CB8AC3E}">
        <p14:creationId xmlns:p14="http://schemas.microsoft.com/office/powerpoint/2010/main" val="146443864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90353A-4CDB-E0AF-4448-350E8938E326}"/>
              </a:ext>
            </a:extLst>
          </p:cNvPr>
          <p:cNvSpPr>
            <a:spLocks noGrp="1"/>
          </p:cNvSpPr>
          <p:nvPr>
            <p:ph type="title"/>
          </p:nvPr>
        </p:nvSpPr>
        <p:spPr/>
        <p:txBody>
          <a:bodyPr/>
          <a:lstStyle/>
          <a:p>
            <a:r>
              <a:rPr lang="en-IN" b="1" dirty="0">
                <a:solidFill>
                  <a:srgbClr val="C00000"/>
                </a:solidFill>
              </a:rPr>
              <a:t>2.2.3 N-Grams as Features</a:t>
            </a:r>
          </a:p>
        </p:txBody>
      </p:sp>
      <p:sp>
        <p:nvSpPr>
          <p:cNvPr id="3" name="Content Placeholder 2">
            <a:extLst>
              <a:ext uri="{FF2B5EF4-FFF2-40B4-BE49-F238E27FC236}">
                <a16:creationId xmlns:a16="http://schemas.microsoft.com/office/drawing/2014/main" id="{F5E417F9-E038-AED9-B019-0FC962F9306D}"/>
              </a:ext>
            </a:extLst>
          </p:cNvPr>
          <p:cNvSpPr>
            <a:spLocks noGrp="1"/>
          </p:cNvSpPr>
          <p:nvPr>
            <p:ph idx="1"/>
          </p:nvPr>
        </p:nvSpPr>
        <p:spPr/>
        <p:txBody>
          <a:bodyPr/>
          <a:lstStyle/>
          <a:p>
            <a:pPr marL="0" indent="0">
              <a:buNone/>
            </a:pPr>
            <a:r>
              <a:rPr lang="en-US" dirty="0"/>
              <a:t>A combination of N words together are called </a:t>
            </a:r>
            <a:r>
              <a:rPr lang="en-US" b="1" i="1" dirty="0"/>
              <a:t>N-Grams.</a:t>
            </a:r>
          </a:p>
          <a:p>
            <a:pPr marL="0" indent="0">
              <a:buNone/>
            </a:pPr>
            <a:r>
              <a:rPr lang="en-US" dirty="0"/>
              <a:t> N grams (N &gt; 1) are generally more informative as compared to words (Unigrams) as features. </a:t>
            </a:r>
          </a:p>
          <a:p>
            <a:pPr marL="0" indent="0">
              <a:buNone/>
            </a:pPr>
            <a:r>
              <a:rPr lang="en-US" dirty="0"/>
              <a:t>Also, bigrams (N = 2) are considered as the most important features of all the others. </a:t>
            </a:r>
          </a:p>
          <a:p>
            <a:pPr marL="0" indent="0">
              <a:buNone/>
            </a:pPr>
            <a:r>
              <a:rPr lang="en-US" b="1" i="1" dirty="0">
                <a:solidFill>
                  <a:schemeClr val="accent2">
                    <a:lumMod val="75000"/>
                  </a:schemeClr>
                </a:solidFill>
              </a:rPr>
              <a:t>'this is a sample text’,</a:t>
            </a:r>
          </a:p>
          <a:p>
            <a:pPr marL="0" indent="0">
              <a:buNone/>
            </a:pPr>
            <a:r>
              <a:rPr lang="en-US" dirty="0"/>
              <a:t> </a:t>
            </a:r>
            <a:r>
              <a:rPr lang="en-US" b="1" dirty="0">
                <a:solidFill>
                  <a:srgbClr val="7030A0"/>
                </a:solidFill>
              </a:rPr>
              <a:t>[['this', 'is'], ['is', 'a'], ['a', 'sample'], , ['sample', 'text']] </a:t>
            </a:r>
            <a:endParaRPr lang="en-IN" b="1" dirty="0">
              <a:solidFill>
                <a:srgbClr val="7030A0"/>
              </a:solidFill>
            </a:endParaRPr>
          </a:p>
        </p:txBody>
      </p:sp>
    </p:spTree>
    <p:extLst>
      <p:ext uri="{BB962C8B-B14F-4D97-AF65-F5344CB8AC3E}">
        <p14:creationId xmlns:p14="http://schemas.microsoft.com/office/powerpoint/2010/main" val="111364593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5A2FEF-31C1-BCA2-F50C-4690DCA9ABCC}"/>
              </a:ext>
            </a:extLst>
          </p:cNvPr>
          <p:cNvSpPr>
            <a:spLocks noGrp="1"/>
          </p:cNvSpPr>
          <p:nvPr>
            <p:ph type="title"/>
          </p:nvPr>
        </p:nvSpPr>
        <p:spPr>
          <a:xfrm>
            <a:off x="838200" y="365125"/>
            <a:ext cx="10515600" cy="975995"/>
          </a:xfrm>
        </p:spPr>
        <p:txBody>
          <a:bodyPr/>
          <a:lstStyle/>
          <a:p>
            <a:r>
              <a:rPr lang="en-IN" b="1" dirty="0">
                <a:solidFill>
                  <a:srgbClr val="C00000"/>
                </a:solidFill>
              </a:rPr>
              <a:t>2.3 Statistical Features</a:t>
            </a:r>
          </a:p>
        </p:txBody>
      </p:sp>
      <p:sp>
        <p:nvSpPr>
          <p:cNvPr id="3" name="Content Placeholder 2">
            <a:extLst>
              <a:ext uri="{FF2B5EF4-FFF2-40B4-BE49-F238E27FC236}">
                <a16:creationId xmlns:a16="http://schemas.microsoft.com/office/drawing/2014/main" id="{A412FB6B-1EF9-9066-8E24-B4FAD7AF2776}"/>
              </a:ext>
            </a:extLst>
          </p:cNvPr>
          <p:cNvSpPr>
            <a:spLocks noGrp="1"/>
          </p:cNvSpPr>
          <p:nvPr>
            <p:ph idx="1"/>
          </p:nvPr>
        </p:nvSpPr>
        <p:spPr>
          <a:xfrm>
            <a:off x="838200" y="1341120"/>
            <a:ext cx="10515600" cy="4835843"/>
          </a:xfrm>
        </p:spPr>
        <p:txBody>
          <a:bodyPr/>
          <a:lstStyle/>
          <a:p>
            <a:pPr marL="0" indent="0">
              <a:buNone/>
            </a:pPr>
            <a:r>
              <a:rPr lang="en-US" dirty="0"/>
              <a:t>Text data can also be quantified directly into numbers.</a:t>
            </a:r>
          </a:p>
          <a:p>
            <a:pPr marL="0" indent="0">
              <a:buNone/>
            </a:pPr>
            <a:r>
              <a:rPr lang="en-US" b="1" dirty="0">
                <a:solidFill>
                  <a:schemeClr val="accent2">
                    <a:lumMod val="75000"/>
                  </a:schemeClr>
                </a:solidFill>
              </a:rPr>
              <a:t>2.3.1 Term Frequency – Inverse Document Frequency (TF – IDF)</a:t>
            </a:r>
          </a:p>
          <a:p>
            <a:pPr algn="just"/>
            <a:r>
              <a:rPr lang="en-US" b="1" dirty="0"/>
              <a:t>Term Frequency (TF)</a:t>
            </a:r>
            <a:r>
              <a:rPr lang="en-US" dirty="0"/>
              <a:t> – TF for a term “t” is defined as the count of a term “t” in a document “D”</a:t>
            </a:r>
          </a:p>
          <a:p>
            <a:pPr algn="just"/>
            <a:r>
              <a:rPr lang="en-US" b="1" dirty="0"/>
              <a:t>Inverse Document Frequency (IDF</a:t>
            </a:r>
            <a:r>
              <a:rPr lang="en-US" dirty="0"/>
              <a:t>) – IDF for a term is defined as logarithm of ratio of total documents available in the corpus and number of documents containing the term T.</a:t>
            </a:r>
          </a:p>
          <a:p>
            <a:pPr marL="0" indent="0">
              <a:buNone/>
            </a:pPr>
            <a:endParaRPr lang="en-IN" dirty="0"/>
          </a:p>
        </p:txBody>
      </p:sp>
    </p:spTree>
    <p:extLst>
      <p:ext uri="{BB962C8B-B14F-4D97-AF65-F5344CB8AC3E}">
        <p14:creationId xmlns:p14="http://schemas.microsoft.com/office/powerpoint/2010/main" val="68452013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BA03EA-2DA6-0AC6-DD52-F9D8549DA77E}"/>
              </a:ext>
            </a:extLst>
          </p:cNvPr>
          <p:cNvSpPr>
            <a:spLocks noGrp="1"/>
          </p:cNvSpPr>
          <p:nvPr>
            <p:ph type="title"/>
          </p:nvPr>
        </p:nvSpPr>
        <p:spPr>
          <a:xfrm>
            <a:off x="568960" y="365125"/>
            <a:ext cx="10784840" cy="1301115"/>
          </a:xfrm>
        </p:spPr>
        <p:txBody>
          <a:bodyPr>
            <a:noAutofit/>
          </a:bodyPr>
          <a:lstStyle/>
          <a:p>
            <a:br>
              <a:rPr lang="en-US" b="1" dirty="0">
                <a:solidFill>
                  <a:srgbClr val="C00000"/>
                </a:solidFill>
              </a:rPr>
            </a:br>
            <a:r>
              <a:rPr lang="en-US" b="1" dirty="0">
                <a:solidFill>
                  <a:srgbClr val="C00000"/>
                </a:solidFill>
              </a:rPr>
              <a:t>2.3.1 Term Frequency – Inverse Document Frequency (TF – IDF)</a:t>
            </a:r>
            <a:br>
              <a:rPr lang="en-US" b="1" dirty="0">
                <a:solidFill>
                  <a:srgbClr val="C00000"/>
                </a:solidFill>
              </a:rPr>
            </a:br>
            <a:endParaRPr lang="en-IN" dirty="0">
              <a:solidFill>
                <a:srgbClr val="C00000"/>
              </a:solidFill>
            </a:endParaRP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0616640A-058D-E857-5997-E54A29C9E09C}"/>
                  </a:ext>
                </a:extLst>
              </p:cNvPr>
              <p:cNvSpPr>
                <a:spLocks noGrp="1"/>
              </p:cNvSpPr>
              <p:nvPr>
                <p:ph idx="1"/>
              </p:nvPr>
            </p:nvSpPr>
            <p:spPr>
              <a:xfrm>
                <a:off x="838200" y="1565592"/>
                <a:ext cx="10515600" cy="4927283"/>
              </a:xfrm>
            </p:spPr>
            <p:txBody>
              <a:bodyPr>
                <a:normAutofit fontScale="70000" lnSpcReduction="20000"/>
              </a:bodyPr>
              <a:lstStyle/>
              <a:p>
                <a:pPr marL="0" indent="0">
                  <a:buNone/>
                </a:pPr>
                <a:r>
                  <a:rPr lang="en-IN" b="1" dirty="0"/>
                  <a:t>Components of TF-IDF</a:t>
                </a:r>
              </a:p>
              <a:p>
                <a:r>
                  <a:rPr lang="en-IN" b="1" dirty="0"/>
                  <a:t>Term Frequency (TF)</a:t>
                </a:r>
                <a:r>
                  <a:rPr lang="en-IN" dirty="0"/>
                  <a:t>: This measures how often a term appears in a document. It is calculated as:</a:t>
                </a:r>
              </a:p>
              <a:p>
                <a:pPr marL="0" indent="0">
                  <a:buNone/>
                </a:pPr>
                <a:endParaRPr lang="en-IN" i="1" dirty="0"/>
              </a:p>
              <a:p>
                <a:pPr marL="0" indent="0">
                  <a:buNone/>
                </a:pPr>
                <a14:m>
                  <m:oMathPara xmlns:m="http://schemas.openxmlformats.org/officeDocument/2006/math">
                    <m:oMathParaPr>
                      <m:jc m:val="centerGroup"/>
                    </m:oMathParaPr>
                    <m:oMath xmlns:m="http://schemas.openxmlformats.org/officeDocument/2006/math">
                      <m:r>
                        <a:rPr lang="en-IN" i="1"/>
                        <m:t>𝑇𝐹</m:t>
                      </m:r>
                      <m:d>
                        <m:dPr>
                          <m:sepChr m:val=","/>
                          <m:ctrlPr>
                            <a:rPr lang="ar-AE" i="1"/>
                          </m:ctrlPr>
                        </m:dPr>
                        <m:e>
                          <m:r>
                            <a:rPr lang="ar-AE" i="1"/>
                            <m:t>𝑡</m:t>
                          </m:r>
                        </m:e>
                        <m:e>
                          <m:r>
                            <a:rPr lang="ar-AE" i="1"/>
                            <m:t>𝑑</m:t>
                          </m:r>
                        </m:e>
                      </m:d>
                      <m:r>
                        <a:rPr lang="ar-AE"/>
                        <m:t>=</m:t>
                      </m:r>
                      <m:f>
                        <m:fPr>
                          <m:ctrlPr>
                            <a:rPr lang="ar-AE" i="1"/>
                          </m:ctrlPr>
                        </m:fPr>
                        <m:num>
                          <m:r>
                            <m:rPr>
                              <m:nor/>
                            </m:rPr>
                            <a:rPr lang="en-IN" i="1"/>
                            <m:t>Number</m:t>
                          </m:r>
                          <m:r>
                            <m:rPr>
                              <m:nor/>
                            </m:rPr>
                            <a:rPr lang="en-IN" i="1"/>
                            <m:t> </m:t>
                          </m:r>
                          <m:r>
                            <m:rPr>
                              <m:nor/>
                            </m:rPr>
                            <a:rPr lang="en-IN" i="1"/>
                            <m:t>of</m:t>
                          </m:r>
                          <m:r>
                            <m:rPr>
                              <m:nor/>
                            </m:rPr>
                            <a:rPr lang="en-IN" i="1"/>
                            <m:t> </m:t>
                          </m:r>
                          <m:r>
                            <m:rPr>
                              <m:nor/>
                            </m:rPr>
                            <a:rPr lang="en-IN" i="1"/>
                            <m:t>times</m:t>
                          </m:r>
                          <m:r>
                            <m:rPr>
                              <m:nor/>
                            </m:rPr>
                            <a:rPr lang="en-IN" i="1"/>
                            <m:t> </m:t>
                          </m:r>
                          <m:r>
                            <m:rPr>
                              <m:nor/>
                            </m:rPr>
                            <a:rPr lang="en-IN" i="1"/>
                            <m:t>term</m:t>
                          </m:r>
                          <m:r>
                            <m:rPr>
                              <m:nor/>
                            </m:rPr>
                            <a:rPr lang="en-IN" i="1"/>
                            <m:t> </m:t>
                          </m:r>
                          <m:r>
                            <a:rPr lang="en-IN" i="1"/>
                            <m:t>𝑡</m:t>
                          </m:r>
                          <m:r>
                            <m:rPr>
                              <m:nor/>
                            </m:rPr>
                            <a:rPr lang="en-IN" i="1"/>
                            <m:t> </m:t>
                          </m:r>
                          <m:r>
                            <m:rPr>
                              <m:nor/>
                            </m:rPr>
                            <a:rPr lang="en-IN" i="1"/>
                            <m:t>appears</m:t>
                          </m:r>
                          <m:r>
                            <m:rPr>
                              <m:nor/>
                            </m:rPr>
                            <a:rPr lang="en-IN" i="1"/>
                            <m:t> </m:t>
                          </m:r>
                          <m:r>
                            <m:rPr>
                              <m:nor/>
                            </m:rPr>
                            <a:rPr lang="en-IN" i="1"/>
                            <m:t>in</m:t>
                          </m:r>
                          <m:r>
                            <m:rPr>
                              <m:nor/>
                            </m:rPr>
                            <a:rPr lang="en-IN" i="1"/>
                            <m:t> </m:t>
                          </m:r>
                          <m:r>
                            <m:rPr>
                              <m:nor/>
                            </m:rPr>
                            <a:rPr lang="en-IN" i="1"/>
                            <m:t>document</m:t>
                          </m:r>
                          <m:r>
                            <m:rPr>
                              <m:nor/>
                            </m:rPr>
                            <a:rPr lang="en-IN" i="1"/>
                            <m:t> </m:t>
                          </m:r>
                          <m:r>
                            <a:rPr lang="en-IN" i="1"/>
                            <m:t>𝑑</m:t>
                          </m:r>
                        </m:num>
                        <m:den>
                          <m:r>
                            <m:rPr>
                              <m:nor/>
                            </m:rPr>
                            <a:rPr lang="en-IN" i="1"/>
                            <m:t>Total</m:t>
                          </m:r>
                          <m:r>
                            <m:rPr>
                              <m:nor/>
                            </m:rPr>
                            <a:rPr lang="en-IN" i="1"/>
                            <m:t> </m:t>
                          </m:r>
                          <m:r>
                            <m:rPr>
                              <m:nor/>
                            </m:rPr>
                            <a:rPr lang="en-IN" i="1"/>
                            <m:t>number</m:t>
                          </m:r>
                          <m:r>
                            <m:rPr>
                              <m:nor/>
                            </m:rPr>
                            <a:rPr lang="en-IN" i="1"/>
                            <m:t> </m:t>
                          </m:r>
                          <m:r>
                            <m:rPr>
                              <m:nor/>
                            </m:rPr>
                            <a:rPr lang="en-IN" i="1"/>
                            <m:t>of</m:t>
                          </m:r>
                          <m:r>
                            <m:rPr>
                              <m:nor/>
                            </m:rPr>
                            <a:rPr lang="en-IN" i="1"/>
                            <m:t> </m:t>
                          </m:r>
                          <m:r>
                            <m:rPr>
                              <m:nor/>
                            </m:rPr>
                            <a:rPr lang="en-IN" i="1"/>
                            <m:t>terms</m:t>
                          </m:r>
                          <m:r>
                            <m:rPr>
                              <m:nor/>
                            </m:rPr>
                            <a:rPr lang="en-IN" i="1"/>
                            <m:t> </m:t>
                          </m:r>
                          <m:r>
                            <m:rPr>
                              <m:nor/>
                            </m:rPr>
                            <a:rPr lang="en-IN" i="1"/>
                            <m:t>in</m:t>
                          </m:r>
                          <m:r>
                            <m:rPr>
                              <m:nor/>
                            </m:rPr>
                            <a:rPr lang="en-IN" i="1"/>
                            <m:t> </m:t>
                          </m:r>
                          <m:r>
                            <m:rPr>
                              <m:nor/>
                            </m:rPr>
                            <a:rPr lang="en-IN" i="1"/>
                            <m:t>document</m:t>
                          </m:r>
                          <m:r>
                            <m:rPr>
                              <m:nor/>
                            </m:rPr>
                            <a:rPr lang="en-IN" i="1"/>
                            <m:t> </m:t>
                          </m:r>
                          <m:r>
                            <a:rPr lang="en-IN" i="1"/>
                            <m:t>𝑑</m:t>
                          </m:r>
                        </m:den>
                      </m:f>
                    </m:oMath>
                  </m:oMathPara>
                </a14:m>
                <a:endParaRPr lang="ar-AE" dirty="0"/>
              </a:p>
              <a:p>
                <a:r>
                  <a:rPr lang="en-IN" b="1" dirty="0"/>
                  <a:t>Inverse Document Frequency (IDF)</a:t>
                </a:r>
                <a:r>
                  <a:rPr lang="en-IN" dirty="0"/>
                  <a:t>: This measures how important a term is across the entire corpus. It is calculated as:</a:t>
                </a:r>
              </a:p>
              <a:p>
                <a:pPr marL="0" indent="0">
                  <a:buNone/>
                </a:pPr>
                <a14:m>
                  <m:oMathPara xmlns:m="http://schemas.openxmlformats.org/officeDocument/2006/math">
                    <m:oMathParaPr>
                      <m:jc m:val="centerGroup"/>
                    </m:oMathParaPr>
                    <m:oMath xmlns:m="http://schemas.openxmlformats.org/officeDocument/2006/math">
                      <m:r>
                        <a:rPr lang="en-IN" i="1"/>
                        <m:t>𝐼𝐷𝐹</m:t>
                      </m:r>
                      <m:d>
                        <m:dPr>
                          <m:ctrlPr>
                            <a:rPr lang="ar-AE" i="1"/>
                          </m:ctrlPr>
                        </m:dPr>
                        <m:e>
                          <m:r>
                            <a:rPr lang="ar-AE" i="1"/>
                            <m:t>𝑡</m:t>
                          </m:r>
                        </m:e>
                      </m:d>
                      <m:r>
                        <a:rPr lang="ar-AE"/>
                        <m:t>=</m:t>
                      </m:r>
                      <m:func>
                        <m:funcPr>
                          <m:ctrlPr>
                            <a:rPr lang="ar-AE" i="1"/>
                          </m:ctrlPr>
                        </m:funcPr>
                        <m:fName>
                          <m:r>
                            <m:rPr>
                              <m:sty m:val="p"/>
                            </m:rPr>
                            <a:rPr lang="en-IN"/>
                            <m:t>log</m:t>
                          </m:r>
                        </m:fName>
                        <m:e>
                          <m:d>
                            <m:dPr>
                              <m:ctrlPr>
                                <a:rPr lang="ar-AE" i="1"/>
                              </m:ctrlPr>
                            </m:dPr>
                            <m:e>
                              <m:f>
                                <m:fPr>
                                  <m:ctrlPr>
                                    <a:rPr lang="ar-AE" i="1"/>
                                  </m:ctrlPr>
                                </m:fPr>
                                <m:num>
                                  <m:r>
                                    <m:rPr>
                                      <m:nor/>
                                    </m:rPr>
                                    <a:rPr lang="en-IN" i="1"/>
                                    <m:t>Total</m:t>
                                  </m:r>
                                  <m:r>
                                    <m:rPr>
                                      <m:nor/>
                                    </m:rPr>
                                    <a:rPr lang="en-IN" i="1"/>
                                    <m:t> </m:t>
                                  </m:r>
                                  <m:r>
                                    <m:rPr>
                                      <m:nor/>
                                    </m:rPr>
                                    <a:rPr lang="en-IN" i="1"/>
                                    <m:t>number</m:t>
                                  </m:r>
                                  <m:r>
                                    <m:rPr>
                                      <m:nor/>
                                    </m:rPr>
                                    <a:rPr lang="en-IN" i="1"/>
                                    <m:t> </m:t>
                                  </m:r>
                                  <m:r>
                                    <m:rPr>
                                      <m:nor/>
                                    </m:rPr>
                                    <a:rPr lang="en-IN" i="1"/>
                                    <m:t>of</m:t>
                                  </m:r>
                                  <m:r>
                                    <m:rPr>
                                      <m:nor/>
                                    </m:rPr>
                                    <a:rPr lang="en-IN" i="1"/>
                                    <m:t> </m:t>
                                  </m:r>
                                  <m:r>
                                    <m:rPr>
                                      <m:nor/>
                                    </m:rPr>
                                    <a:rPr lang="en-IN" i="1"/>
                                    <m:t>documents</m:t>
                                  </m:r>
                                </m:num>
                                <m:den>
                                  <m:r>
                                    <m:rPr>
                                      <m:nor/>
                                    </m:rPr>
                                    <a:rPr lang="en-IN" i="1"/>
                                    <m:t>Number</m:t>
                                  </m:r>
                                  <m:r>
                                    <m:rPr>
                                      <m:nor/>
                                    </m:rPr>
                                    <a:rPr lang="en-IN" i="1"/>
                                    <m:t> </m:t>
                                  </m:r>
                                  <m:r>
                                    <m:rPr>
                                      <m:nor/>
                                    </m:rPr>
                                    <a:rPr lang="en-IN" i="1"/>
                                    <m:t>of</m:t>
                                  </m:r>
                                  <m:r>
                                    <m:rPr>
                                      <m:nor/>
                                    </m:rPr>
                                    <a:rPr lang="en-IN" i="1"/>
                                    <m:t> </m:t>
                                  </m:r>
                                  <m:r>
                                    <m:rPr>
                                      <m:nor/>
                                    </m:rPr>
                                    <a:rPr lang="en-IN" i="1"/>
                                    <m:t>documents</m:t>
                                  </m:r>
                                  <m:r>
                                    <m:rPr>
                                      <m:nor/>
                                    </m:rPr>
                                    <a:rPr lang="en-IN" i="1"/>
                                    <m:t> </m:t>
                                  </m:r>
                                  <m:r>
                                    <m:rPr>
                                      <m:nor/>
                                    </m:rPr>
                                    <a:rPr lang="en-IN" i="1"/>
                                    <m:t>containing</m:t>
                                  </m:r>
                                  <m:r>
                                    <m:rPr>
                                      <m:nor/>
                                    </m:rPr>
                                    <a:rPr lang="en-IN" i="1"/>
                                    <m:t> </m:t>
                                  </m:r>
                                  <m:r>
                                    <m:rPr>
                                      <m:nor/>
                                    </m:rPr>
                                    <a:rPr lang="en-IN" i="1"/>
                                    <m:t>term</m:t>
                                  </m:r>
                                  <m:r>
                                    <m:rPr>
                                      <m:nor/>
                                    </m:rPr>
                                    <a:rPr lang="en-IN" i="1"/>
                                    <m:t> </m:t>
                                  </m:r>
                                  <m:r>
                                    <a:rPr lang="en-IN" i="1"/>
                                    <m:t>𝑡</m:t>
                                  </m:r>
                                </m:den>
                              </m:f>
                            </m:e>
                          </m:d>
                        </m:e>
                      </m:func>
                    </m:oMath>
                  </m:oMathPara>
                </a14:m>
                <a:endParaRPr lang="ar-AE" dirty="0"/>
              </a:p>
              <a:p>
                <a:pPr marL="0" indent="0">
                  <a:buNone/>
                </a:pPr>
                <a:r>
                  <a:rPr lang="en-IN" dirty="0"/>
                  <a:t>        To avoid division by zero, a common adjustment is to add 1 to the denominator:</a:t>
                </a:r>
              </a:p>
              <a:p>
                <a:pPr marL="0" indent="0">
                  <a:buNone/>
                </a:pPr>
                <a14:m>
                  <m:oMathPara xmlns:m="http://schemas.openxmlformats.org/officeDocument/2006/math">
                    <m:oMathParaPr>
                      <m:jc m:val="centerGroup"/>
                    </m:oMathParaPr>
                    <m:oMath xmlns:m="http://schemas.openxmlformats.org/officeDocument/2006/math">
                      <m:r>
                        <a:rPr lang="en-IN" i="1"/>
                        <m:t>𝐼𝐷𝐹</m:t>
                      </m:r>
                      <m:d>
                        <m:dPr>
                          <m:ctrlPr>
                            <a:rPr lang="ar-AE" i="1"/>
                          </m:ctrlPr>
                        </m:dPr>
                        <m:e>
                          <m:r>
                            <a:rPr lang="ar-AE" i="1"/>
                            <m:t>𝑡</m:t>
                          </m:r>
                        </m:e>
                      </m:d>
                      <m:r>
                        <a:rPr lang="ar-AE"/>
                        <m:t>=</m:t>
                      </m:r>
                      <m:func>
                        <m:funcPr>
                          <m:ctrlPr>
                            <a:rPr lang="ar-AE" i="1"/>
                          </m:ctrlPr>
                        </m:funcPr>
                        <m:fName>
                          <m:r>
                            <m:rPr>
                              <m:sty m:val="p"/>
                            </m:rPr>
                            <a:rPr lang="en-IN"/>
                            <m:t>log</m:t>
                          </m:r>
                        </m:fName>
                        <m:e>
                          <m:d>
                            <m:dPr>
                              <m:ctrlPr>
                                <a:rPr lang="ar-AE" i="1"/>
                              </m:ctrlPr>
                            </m:dPr>
                            <m:e>
                              <m:f>
                                <m:fPr>
                                  <m:ctrlPr>
                                    <a:rPr lang="ar-AE" i="1"/>
                                  </m:ctrlPr>
                                </m:fPr>
                                <m:num>
                                  <m:r>
                                    <m:rPr>
                                      <m:nor/>
                                    </m:rPr>
                                    <a:rPr lang="en-IN" i="1"/>
                                    <m:t>Total</m:t>
                                  </m:r>
                                  <m:r>
                                    <m:rPr>
                                      <m:nor/>
                                    </m:rPr>
                                    <a:rPr lang="en-IN" i="1"/>
                                    <m:t> </m:t>
                                  </m:r>
                                  <m:r>
                                    <m:rPr>
                                      <m:nor/>
                                    </m:rPr>
                                    <a:rPr lang="en-IN" i="1"/>
                                    <m:t>number</m:t>
                                  </m:r>
                                  <m:r>
                                    <m:rPr>
                                      <m:nor/>
                                    </m:rPr>
                                    <a:rPr lang="en-IN" i="1"/>
                                    <m:t> </m:t>
                                  </m:r>
                                  <m:r>
                                    <m:rPr>
                                      <m:nor/>
                                    </m:rPr>
                                    <a:rPr lang="en-IN" i="1"/>
                                    <m:t>of</m:t>
                                  </m:r>
                                  <m:r>
                                    <m:rPr>
                                      <m:nor/>
                                    </m:rPr>
                                    <a:rPr lang="en-IN" i="1"/>
                                    <m:t> </m:t>
                                  </m:r>
                                  <m:r>
                                    <m:rPr>
                                      <m:nor/>
                                    </m:rPr>
                                    <a:rPr lang="en-IN" i="1"/>
                                    <m:t>documents</m:t>
                                  </m:r>
                                </m:num>
                                <m:den>
                                  <m:r>
                                    <m:rPr>
                                      <m:nor/>
                                    </m:rPr>
                                    <a:rPr lang="en-IN" i="1"/>
                                    <m:t>Number</m:t>
                                  </m:r>
                                  <m:r>
                                    <m:rPr>
                                      <m:nor/>
                                    </m:rPr>
                                    <a:rPr lang="en-IN" i="1"/>
                                    <m:t> </m:t>
                                  </m:r>
                                  <m:r>
                                    <m:rPr>
                                      <m:nor/>
                                    </m:rPr>
                                    <a:rPr lang="en-IN" i="1"/>
                                    <m:t>of</m:t>
                                  </m:r>
                                  <m:r>
                                    <m:rPr>
                                      <m:nor/>
                                    </m:rPr>
                                    <a:rPr lang="en-IN" i="1"/>
                                    <m:t> </m:t>
                                  </m:r>
                                  <m:r>
                                    <m:rPr>
                                      <m:nor/>
                                    </m:rPr>
                                    <a:rPr lang="en-IN" i="1"/>
                                    <m:t>documents</m:t>
                                  </m:r>
                                  <m:r>
                                    <m:rPr>
                                      <m:nor/>
                                    </m:rPr>
                                    <a:rPr lang="en-IN" i="1"/>
                                    <m:t> </m:t>
                                  </m:r>
                                  <m:r>
                                    <m:rPr>
                                      <m:nor/>
                                    </m:rPr>
                                    <a:rPr lang="en-IN" i="1"/>
                                    <m:t>containing</m:t>
                                  </m:r>
                                  <m:r>
                                    <m:rPr>
                                      <m:nor/>
                                    </m:rPr>
                                    <a:rPr lang="en-IN" i="1"/>
                                    <m:t> </m:t>
                                  </m:r>
                                  <m:r>
                                    <m:rPr>
                                      <m:nor/>
                                    </m:rPr>
                                    <a:rPr lang="en-IN" i="1"/>
                                    <m:t>term</m:t>
                                  </m:r>
                                  <m:r>
                                    <m:rPr>
                                      <m:nor/>
                                    </m:rPr>
                                    <a:rPr lang="en-IN" i="1"/>
                                    <m:t> </m:t>
                                  </m:r>
                                  <m:r>
                                    <a:rPr lang="en-IN" i="1"/>
                                    <m:t>𝑡</m:t>
                                  </m:r>
                                </m:den>
                              </m:f>
                              <m:r>
                                <a:rPr lang="ar-AE"/>
                                <m:t>+</m:t>
                              </m:r>
                              <m:r>
                                <a:rPr lang="ar-AE"/>
                                <m:t>1</m:t>
                              </m:r>
                            </m:e>
                          </m:d>
                        </m:e>
                      </m:func>
                    </m:oMath>
                  </m:oMathPara>
                </a14:m>
                <a:endParaRPr lang="ar-AE" dirty="0"/>
              </a:p>
              <a:p>
                <a:r>
                  <a:rPr lang="en-IN" b="1" dirty="0">
                    <a:hlinkClick r:id="rId2" action="ppaction://hlinkfile"/>
                  </a:rPr>
                  <a:t>TF-IDF Calculation</a:t>
                </a:r>
                <a:endParaRPr lang="en-IN" b="1" dirty="0"/>
              </a:p>
              <a:p>
                <a:pPr marL="0" indent="0">
                  <a:buNone/>
                </a:pPr>
                <a:r>
                  <a:rPr lang="en-IN" dirty="0"/>
                  <a:t>              The TF-IDF score for a term is calculated by multiplying its TF and IDF values:</a:t>
                </a:r>
              </a:p>
              <a:p>
                <a:pPr marL="0" indent="0">
                  <a:buNone/>
                </a:pPr>
                <a14:m>
                  <m:oMathPara xmlns:m="http://schemas.openxmlformats.org/officeDocument/2006/math">
                    <m:oMathParaPr>
                      <m:jc m:val="centerGroup"/>
                    </m:oMathParaPr>
                    <m:oMath xmlns:m="http://schemas.openxmlformats.org/officeDocument/2006/math">
                      <m:r>
                        <a:rPr lang="en-IN" i="1"/>
                        <m:t>𝑇𝐹</m:t>
                      </m:r>
                      <m:r>
                        <m:rPr>
                          <m:nor/>
                        </m:rPr>
                        <a:rPr lang="en-IN" i="1"/>
                        <m:t>−</m:t>
                      </m:r>
                      <m:r>
                        <a:rPr lang="en-IN" i="1"/>
                        <m:t>𝐼𝐷𝐹</m:t>
                      </m:r>
                      <m:d>
                        <m:dPr>
                          <m:sepChr m:val=","/>
                          <m:ctrlPr>
                            <a:rPr lang="ar-AE" i="1"/>
                          </m:ctrlPr>
                        </m:dPr>
                        <m:e>
                          <m:r>
                            <a:rPr lang="ar-AE" i="1"/>
                            <m:t>𝑡</m:t>
                          </m:r>
                        </m:e>
                        <m:e>
                          <m:r>
                            <a:rPr lang="ar-AE" i="1"/>
                            <m:t>𝑑</m:t>
                          </m:r>
                        </m:e>
                      </m:d>
                      <m:r>
                        <a:rPr lang="ar-AE"/>
                        <m:t>=</m:t>
                      </m:r>
                      <m:r>
                        <a:rPr lang="ar-AE" i="1"/>
                        <m:t>𝑇𝐹</m:t>
                      </m:r>
                      <m:d>
                        <m:dPr>
                          <m:sepChr m:val=","/>
                          <m:ctrlPr>
                            <a:rPr lang="ar-AE" i="1"/>
                          </m:ctrlPr>
                        </m:dPr>
                        <m:e>
                          <m:r>
                            <a:rPr lang="ar-AE" i="1"/>
                            <m:t>𝑡</m:t>
                          </m:r>
                        </m:e>
                        <m:e>
                          <m:r>
                            <a:rPr lang="ar-AE" i="1"/>
                            <m:t>𝑑</m:t>
                          </m:r>
                        </m:e>
                      </m:d>
                      <m:r>
                        <a:rPr lang="ar-AE"/>
                        <m:t>×</m:t>
                      </m:r>
                      <m:r>
                        <a:rPr lang="ar-AE" i="1"/>
                        <m:t>𝐼𝐷𝐹</m:t>
                      </m:r>
                      <m:d>
                        <m:dPr>
                          <m:ctrlPr>
                            <a:rPr lang="ar-AE" i="1"/>
                          </m:ctrlPr>
                        </m:dPr>
                        <m:e>
                          <m:r>
                            <a:rPr lang="ar-AE" i="1"/>
                            <m:t>𝑡</m:t>
                          </m:r>
                        </m:e>
                      </m:d>
                    </m:oMath>
                  </m:oMathPara>
                </a14:m>
                <a:endParaRPr lang="ar-AE" dirty="0"/>
              </a:p>
              <a:p>
                <a:endParaRPr lang="en-IN" dirty="0"/>
              </a:p>
            </p:txBody>
          </p:sp>
        </mc:Choice>
        <mc:Fallback>
          <p:sp>
            <p:nvSpPr>
              <p:cNvPr id="3" name="Content Placeholder 2">
                <a:extLst>
                  <a:ext uri="{FF2B5EF4-FFF2-40B4-BE49-F238E27FC236}">
                    <a16:creationId xmlns:a16="http://schemas.microsoft.com/office/drawing/2014/main" id="{0616640A-058D-E857-5997-E54A29C9E09C}"/>
                  </a:ext>
                </a:extLst>
              </p:cNvPr>
              <p:cNvSpPr>
                <a:spLocks noGrp="1" noRot="1" noChangeAspect="1" noMove="1" noResize="1" noEditPoints="1" noAdjustHandles="1" noChangeArrowheads="1" noChangeShapeType="1" noTextEdit="1"/>
              </p:cNvSpPr>
              <p:nvPr>
                <p:ph idx="1"/>
              </p:nvPr>
            </p:nvSpPr>
            <p:spPr>
              <a:xfrm>
                <a:off x="838200" y="1565592"/>
                <a:ext cx="10515600" cy="4927283"/>
              </a:xfrm>
              <a:blipFill>
                <a:blip r:embed="rId3"/>
                <a:stretch>
                  <a:fillRect l="-638" t="-2351" r="-522"/>
                </a:stretch>
              </a:blipFill>
            </p:spPr>
            <p:txBody>
              <a:bodyPr/>
              <a:lstStyle/>
              <a:p>
                <a:r>
                  <a:rPr lang="en-IN">
                    <a:noFill/>
                  </a:rPr>
                  <a:t> </a:t>
                </a:r>
              </a:p>
            </p:txBody>
          </p:sp>
        </mc:Fallback>
      </mc:AlternateContent>
    </p:spTree>
    <p:extLst>
      <p:ext uri="{BB962C8B-B14F-4D97-AF65-F5344CB8AC3E}">
        <p14:creationId xmlns:p14="http://schemas.microsoft.com/office/powerpoint/2010/main" val="133747326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E84617-BAA7-49AC-9392-9BCB927D8DB1}"/>
              </a:ext>
            </a:extLst>
          </p:cNvPr>
          <p:cNvSpPr>
            <a:spLocks noGrp="1"/>
          </p:cNvSpPr>
          <p:nvPr>
            <p:ph type="title"/>
          </p:nvPr>
        </p:nvSpPr>
        <p:spPr/>
        <p:txBody>
          <a:bodyPr/>
          <a:lstStyle/>
          <a:p>
            <a:r>
              <a:rPr lang="en-IN" b="1" dirty="0">
                <a:solidFill>
                  <a:srgbClr val="C00000"/>
                </a:solidFill>
              </a:rPr>
              <a:t>2.4 Word Embedding (text vectors)</a:t>
            </a:r>
          </a:p>
        </p:txBody>
      </p:sp>
      <p:sp>
        <p:nvSpPr>
          <p:cNvPr id="3" name="Content Placeholder 2">
            <a:extLst>
              <a:ext uri="{FF2B5EF4-FFF2-40B4-BE49-F238E27FC236}">
                <a16:creationId xmlns:a16="http://schemas.microsoft.com/office/drawing/2014/main" id="{611D042F-EF00-C584-24E9-F999F93D95F0}"/>
              </a:ext>
            </a:extLst>
          </p:cNvPr>
          <p:cNvSpPr>
            <a:spLocks noGrp="1"/>
          </p:cNvSpPr>
          <p:nvPr>
            <p:ph idx="1"/>
          </p:nvPr>
        </p:nvSpPr>
        <p:spPr>
          <a:xfrm>
            <a:off x="838200" y="1513840"/>
            <a:ext cx="10515600" cy="4663123"/>
          </a:xfrm>
        </p:spPr>
        <p:txBody>
          <a:bodyPr>
            <a:normAutofit fontScale="92500" lnSpcReduction="10000"/>
          </a:bodyPr>
          <a:lstStyle/>
          <a:p>
            <a:pPr marL="0" indent="0" algn="just">
              <a:buNone/>
            </a:pPr>
            <a:r>
              <a:rPr lang="en-US" dirty="0"/>
              <a:t>Word embedding is the modern way of representing words as vectors. The aim of word embedding is to redefine the high dimensional word features into low dimensional feature vectors by preserving the contextual similarity in the corpus. </a:t>
            </a:r>
          </a:p>
          <a:p>
            <a:pPr algn="just"/>
            <a:r>
              <a:rPr lang="en-US" dirty="0">
                <a:hlinkClick r:id="rId2"/>
              </a:rPr>
              <a:t>Word2Vec</a:t>
            </a:r>
            <a:r>
              <a:rPr lang="en-US" dirty="0"/>
              <a:t> </a:t>
            </a:r>
          </a:p>
          <a:p>
            <a:pPr marL="0" indent="0" algn="just">
              <a:buNone/>
            </a:pPr>
            <a:r>
              <a:rPr lang="en-US" dirty="0"/>
              <a:t>Word2Vec model is composed of preprocessing module, a shallow neural network model called </a:t>
            </a:r>
            <a:r>
              <a:rPr lang="en-US" b="1" dirty="0"/>
              <a:t>Continuous Bag of Words </a:t>
            </a:r>
            <a:r>
              <a:rPr lang="en-US" dirty="0"/>
              <a:t>and another shallow neural network model called </a:t>
            </a:r>
            <a:r>
              <a:rPr lang="en-US" b="1" dirty="0"/>
              <a:t>skip-gram</a:t>
            </a:r>
            <a:r>
              <a:rPr lang="en-US" dirty="0"/>
              <a:t>.</a:t>
            </a:r>
          </a:p>
          <a:p>
            <a:pPr lvl="1" algn="just">
              <a:buFont typeface="Wingdings" panose="05000000000000000000" pitchFamily="2" charset="2"/>
              <a:buChar char="Ø"/>
            </a:pPr>
            <a:r>
              <a:rPr lang="en-IN" dirty="0">
                <a:hlinkClick r:id="rId3"/>
              </a:rPr>
              <a:t>Word2Vec.ipynb – Colab</a:t>
            </a:r>
            <a:r>
              <a:rPr lang="en-IN" dirty="0"/>
              <a:t> </a:t>
            </a:r>
          </a:p>
          <a:p>
            <a:pPr algn="just"/>
            <a:r>
              <a:rPr lang="en-US" dirty="0">
                <a:hlinkClick r:id="rId4"/>
              </a:rPr>
              <a:t>GloVe</a:t>
            </a:r>
            <a:endParaRPr lang="en-US" dirty="0"/>
          </a:p>
          <a:p>
            <a:pPr marL="0" indent="0" algn="just">
              <a:buNone/>
            </a:pPr>
            <a:r>
              <a:rPr lang="en-US" dirty="0"/>
              <a:t>GloVe is an unsupervised learning algorithm for obtaining vector representations for words. </a:t>
            </a:r>
          </a:p>
          <a:p>
            <a:pPr marL="0" indent="0" algn="just">
              <a:buNone/>
            </a:pPr>
            <a:endParaRPr lang="en-IN" dirty="0"/>
          </a:p>
        </p:txBody>
      </p:sp>
    </p:spTree>
    <p:extLst>
      <p:ext uri="{BB962C8B-B14F-4D97-AF65-F5344CB8AC3E}">
        <p14:creationId xmlns:p14="http://schemas.microsoft.com/office/powerpoint/2010/main" val="15119660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AF44E5-0361-F5FC-CDE2-D485FEE7317A}"/>
              </a:ext>
            </a:extLst>
          </p:cNvPr>
          <p:cNvSpPr>
            <a:spLocks noGrp="1"/>
          </p:cNvSpPr>
          <p:nvPr>
            <p:ph type="title"/>
          </p:nvPr>
        </p:nvSpPr>
        <p:spPr/>
        <p:txBody>
          <a:bodyPr>
            <a:normAutofit/>
          </a:bodyPr>
          <a:lstStyle/>
          <a:p>
            <a:r>
              <a:rPr lang="en-US" b="1" dirty="0">
                <a:solidFill>
                  <a:srgbClr val="C00000"/>
                </a:solidFill>
              </a:rPr>
              <a:t>Sentiment Analysis on IMDB Movie Reviews</a:t>
            </a:r>
            <a:endParaRPr lang="en-IN" dirty="0">
              <a:solidFill>
                <a:srgbClr val="C00000"/>
              </a:solidFill>
            </a:endParaRPr>
          </a:p>
        </p:txBody>
      </p:sp>
      <p:sp>
        <p:nvSpPr>
          <p:cNvPr id="3" name="Content Placeholder 2">
            <a:extLst>
              <a:ext uri="{FF2B5EF4-FFF2-40B4-BE49-F238E27FC236}">
                <a16:creationId xmlns:a16="http://schemas.microsoft.com/office/drawing/2014/main" id="{456D7300-63F9-8341-2A45-D9A9B5D05876}"/>
              </a:ext>
            </a:extLst>
          </p:cNvPr>
          <p:cNvSpPr>
            <a:spLocks noGrp="1"/>
          </p:cNvSpPr>
          <p:nvPr>
            <p:ph sz="half" idx="1"/>
          </p:nvPr>
        </p:nvSpPr>
        <p:spPr>
          <a:xfrm>
            <a:off x="838200" y="1452880"/>
            <a:ext cx="5181600" cy="4724083"/>
          </a:xfrm>
        </p:spPr>
        <p:txBody>
          <a:bodyPr>
            <a:normAutofit fontScale="85000" lnSpcReduction="20000"/>
          </a:bodyPr>
          <a:lstStyle/>
          <a:p>
            <a:pPr marL="0" indent="0" algn="just">
              <a:buNone/>
            </a:pPr>
            <a:r>
              <a:rPr lang="en-US" dirty="0"/>
              <a:t>Sentiment Analysis is a Natural Language Processing (NLP) technique used to determine the emotional tone behind text.</a:t>
            </a:r>
          </a:p>
          <a:p>
            <a:pPr fontAlgn="base"/>
            <a:r>
              <a:rPr lang="en-US" dirty="0"/>
              <a:t>IMDB movie reviews dataset is a common benchmark dataset for binary sentiment classification. Each review in the dataset is labeled as either positive or negative. </a:t>
            </a:r>
          </a:p>
          <a:p>
            <a:pPr marL="0" indent="0" fontAlgn="base">
              <a:buNone/>
            </a:pPr>
            <a:r>
              <a:rPr lang="en-US" dirty="0"/>
              <a:t>You can download the dataset from </a:t>
            </a:r>
            <a:r>
              <a:rPr lang="en-US" dirty="0" err="1"/>
              <a:t>kaggle</a:t>
            </a:r>
            <a:r>
              <a:rPr lang="en-US" dirty="0"/>
              <a:t> which includes: </a:t>
            </a:r>
            <a:r>
              <a:rPr lang="en-IN" dirty="0">
                <a:hlinkClick r:id="rId2"/>
              </a:rPr>
              <a:t>IMDB dataset (Sentiment analysis) in CSV format</a:t>
            </a:r>
            <a:endParaRPr lang="en-US" dirty="0"/>
          </a:p>
          <a:p>
            <a:pPr fontAlgn="base"/>
            <a:r>
              <a:rPr lang="en-US" dirty="0"/>
              <a:t>Size: 50,000 reviews (25,000 for training, 25,000 for testing)</a:t>
            </a:r>
          </a:p>
          <a:p>
            <a:pPr fontAlgn="base"/>
            <a:r>
              <a:rPr lang="en-US" dirty="0"/>
              <a:t>Label Type: Binary (positive = 1, negative = 0)</a:t>
            </a:r>
          </a:p>
          <a:p>
            <a:pPr marL="0" indent="0">
              <a:buNone/>
            </a:pPr>
            <a:endParaRPr lang="en-IN" dirty="0"/>
          </a:p>
        </p:txBody>
      </p:sp>
      <p:sp>
        <p:nvSpPr>
          <p:cNvPr id="6" name="Content Placeholder 5">
            <a:extLst>
              <a:ext uri="{FF2B5EF4-FFF2-40B4-BE49-F238E27FC236}">
                <a16:creationId xmlns:a16="http://schemas.microsoft.com/office/drawing/2014/main" id="{78D143E7-623B-6587-2C75-D2BD87233D59}"/>
              </a:ext>
            </a:extLst>
          </p:cNvPr>
          <p:cNvSpPr>
            <a:spLocks noGrp="1"/>
          </p:cNvSpPr>
          <p:nvPr>
            <p:ph sz="half" idx="2"/>
          </p:nvPr>
        </p:nvSpPr>
        <p:spPr/>
        <p:txBody>
          <a:bodyPr>
            <a:normAutofit fontScale="85000" lnSpcReduction="20000"/>
          </a:bodyPr>
          <a:lstStyle/>
          <a:p>
            <a:endParaRPr lang="en-IN" dirty="0"/>
          </a:p>
        </p:txBody>
      </p:sp>
      <p:grpSp>
        <p:nvGrpSpPr>
          <p:cNvPr id="4" name="Group 9">
            <a:extLst>
              <a:ext uri="{FF2B5EF4-FFF2-40B4-BE49-F238E27FC236}">
                <a16:creationId xmlns:a16="http://schemas.microsoft.com/office/drawing/2014/main" id="{90E12390-1DD0-E732-DF4E-F3770E18ACC7}"/>
              </a:ext>
            </a:extLst>
          </p:cNvPr>
          <p:cNvGrpSpPr/>
          <p:nvPr/>
        </p:nvGrpSpPr>
        <p:grpSpPr>
          <a:xfrm>
            <a:off x="6852920" y="1690688"/>
            <a:ext cx="4180840" cy="4505325"/>
            <a:chOff x="758314" y="-86908"/>
            <a:chExt cx="450881" cy="1056752"/>
          </a:xfrm>
        </p:grpSpPr>
        <p:sp>
          <p:nvSpPr>
            <p:cNvPr id="5" name="Freeform 10">
              <a:extLst>
                <a:ext uri="{FF2B5EF4-FFF2-40B4-BE49-F238E27FC236}">
                  <a16:creationId xmlns:a16="http://schemas.microsoft.com/office/drawing/2014/main" id="{1AEE0044-5FAB-91E1-71F4-E1985B0AE6BB}"/>
                </a:ext>
              </a:extLst>
            </p:cNvPr>
            <p:cNvSpPr/>
            <p:nvPr/>
          </p:nvSpPr>
          <p:spPr>
            <a:xfrm>
              <a:off x="758314" y="-86908"/>
              <a:ext cx="450881" cy="1056752"/>
            </a:xfrm>
            <a:custGeom>
              <a:avLst/>
              <a:gdLst/>
              <a:ahLst/>
              <a:cxnLst/>
              <a:rect l="l" t="t" r="r" b="b"/>
              <a:pathLst>
                <a:path w="812800" h="1056752">
                  <a:moveTo>
                    <a:pt x="44968" y="0"/>
                  </a:moveTo>
                  <a:lnTo>
                    <a:pt x="767832" y="0"/>
                  </a:lnTo>
                  <a:cubicBezTo>
                    <a:pt x="779758" y="0"/>
                    <a:pt x="791196" y="4738"/>
                    <a:pt x="799629" y="13171"/>
                  </a:cubicBezTo>
                  <a:cubicBezTo>
                    <a:pt x="808062" y="21604"/>
                    <a:pt x="812800" y="33042"/>
                    <a:pt x="812800" y="44968"/>
                  </a:cubicBezTo>
                  <a:lnTo>
                    <a:pt x="812800" y="1011784"/>
                  </a:lnTo>
                  <a:cubicBezTo>
                    <a:pt x="812800" y="1023711"/>
                    <a:pt x="808062" y="1035148"/>
                    <a:pt x="799629" y="1043582"/>
                  </a:cubicBezTo>
                  <a:cubicBezTo>
                    <a:pt x="791196" y="1052015"/>
                    <a:pt x="779758" y="1056752"/>
                    <a:pt x="767832" y="1056752"/>
                  </a:cubicBezTo>
                  <a:lnTo>
                    <a:pt x="44968" y="1056752"/>
                  </a:lnTo>
                  <a:cubicBezTo>
                    <a:pt x="33042" y="1056752"/>
                    <a:pt x="21604" y="1052015"/>
                    <a:pt x="13171" y="1043582"/>
                  </a:cubicBezTo>
                  <a:cubicBezTo>
                    <a:pt x="4738" y="1035148"/>
                    <a:pt x="0" y="1023711"/>
                    <a:pt x="0" y="1011784"/>
                  </a:cubicBezTo>
                  <a:lnTo>
                    <a:pt x="0" y="44968"/>
                  </a:lnTo>
                  <a:cubicBezTo>
                    <a:pt x="0" y="33042"/>
                    <a:pt x="4738" y="21604"/>
                    <a:pt x="13171" y="13171"/>
                  </a:cubicBezTo>
                  <a:cubicBezTo>
                    <a:pt x="21604" y="4738"/>
                    <a:pt x="33042" y="0"/>
                    <a:pt x="44968" y="0"/>
                  </a:cubicBezTo>
                  <a:close/>
                </a:path>
              </a:pathLst>
            </a:custGeom>
            <a:blipFill>
              <a:blip r:embed="rId3"/>
              <a:stretch>
                <a:fillRect t="-271" b="-271"/>
              </a:stretch>
            </a:blipFill>
          </p:spPr>
        </p:sp>
      </p:grpSp>
    </p:spTree>
    <p:extLst>
      <p:ext uri="{BB962C8B-B14F-4D97-AF65-F5344CB8AC3E}">
        <p14:creationId xmlns:p14="http://schemas.microsoft.com/office/powerpoint/2010/main" val="376525634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A5E0A5-96DE-90C4-13F6-A92166FA5952}"/>
              </a:ext>
            </a:extLst>
          </p:cNvPr>
          <p:cNvSpPr>
            <a:spLocks noGrp="1"/>
          </p:cNvSpPr>
          <p:nvPr>
            <p:ph type="title"/>
          </p:nvPr>
        </p:nvSpPr>
        <p:spPr/>
        <p:txBody>
          <a:bodyPr/>
          <a:lstStyle/>
          <a:p>
            <a:r>
              <a:rPr lang="en-US" spc="-240" dirty="0">
                <a:solidFill>
                  <a:srgbClr val="6A2C70"/>
                </a:solidFill>
                <a:latin typeface="Georgia Pro Condensed"/>
                <a:ea typeface="Georgia Pro Condensed"/>
                <a:cs typeface="Georgia Pro Condensed"/>
                <a:sym typeface="Georgia Pro Condensed"/>
              </a:rPr>
              <a:t>The Movie Connection</a:t>
            </a:r>
            <a:endParaRPr lang="en-IN" dirty="0"/>
          </a:p>
        </p:txBody>
      </p:sp>
      <p:sp>
        <p:nvSpPr>
          <p:cNvPr id="3" name="Content Placeholder 2">
            <a:extLst>
              <a:ext uri="{FF2B5EF4-FFF2-40B4-BE49-F238E27FC236}">
                <a16:creationId xmlns:a16="http://schemas.microsoft.com/office/drawing/2014/main" id="{236E6D74-680F-C0F6-6A91-9343DFA18FC8}"/>
              </a:ext>
            </a:extLst>
          </p:cNvPr>
          <p:cNvSpPr>
            <a:spLocks noGrp="1"/>
          </p:cNvSpPr>
          <p:nvPr>
            <p:ph sz="half" idx="1"/>
          </p:nvPr>
        </p:nvSpPr>
        <p:spPr/>
        <p:txBody>
          <a:bodyPr/>
          <a:lstStyle/>
          <a:p>
            <a:endParaRPr lang="en-IN" dirty="0"/>
          </a:p>
        </p:txBody>
      </p:sp>
      <p:sp>
        <p:nvSpPr>
          <p:cNvPr id="4" name="Content Placeholder 3">
            <a:extLst>
              <a:ext uri="{FF2B5EF4-FFF2-40B4-BE49-F238E27FC236}">
                <a16:creationId xmlns:a16="http://schemas.microsoft.com/office/drawing/2014/main" id="{B4838ACF-0900-0B0F-8173-8C2000DC337F}"/>
              </a:ext>
            </a:extLst>
          </p:cNvPr>
          <p:cNvSpPr>
            <a:spLocks noGrp="1"/>
          </p:cNvSpPr>
          <p:nvPr>
            <p:ph sz="half" idx="2"/>
          </p:nvPr>
        </p:nvSpPr>
        <p:spPr/>
        <p:txBody>
          <a:bodyPr/>
          <a:lstStyle/>
          <a:p>
            <a:pPr marL="0" indent="0" algn="just">
              <a:buNone/>
            </a:pPr>
            <a:r>
              <a:rPr lang="en-US" spc="-37" dirty="0">
                <a:solidFill>
                  <a:srgbClr val="6A2C70"/>
                </a:solidFill>
                <a:latin typeface="Helvetica World"/>
                <a:ea typeface="Helvetica World"/>
                <a:cs typeface="Helvetica World"/>
                <a:sym typeface="Helvetica World"/>
              </a:rPr>
              <a:t>Sentiment analysis plays a </a:t>
            </a:r>
            <a:r>
              <a:rPr lang="en-US" b="1" spc="-37" dirty="0">
                <a:solidFill>
                  <a:srgbClr val="6A2C70"/>
                </a:solidFill>
                <a:latin typeface="Helvetica World Bold"/>
                <a:ea typeface="Helvetica World Bold"/>
                <a:cs typeface="Helvetica World Bold"/>
                <a:sym typeface="Helvetica World Bold"/>
              </a:rPr>
              <a:t>crucial role</a:t>
            </a:r>
            <a:r>
              <a:rPr lang="en-US" spc="-37" dirty="0">
                <a:solidFill>
                  <a:srgbClr val="6A2C70"/>
                </a:solidFill>
                <a:latin typeface="Helvetica World"/>
                <a:ea typeface="Helvetica World"/>
                <a:cs typeface="Helvetica World"/>
                <a:sym typeface="Helvetica World"/>
              </a:rPr>
              <a:t> in enhancing movie recommendations, allowing systems to interpret user emotions from reviews. </a:t>
            </a:r>
          </a:p>
          <a:p>
            <a:pPr marL="0" indent="0" algn="just">
              <a:buNone/>
            </a:pPr>
            <a:r>
              <a:rPr lang="en-US" spc="-37" dirty="0">
                <a:solidFill>
                  <a:srgbClr val="6A2C70"/>
                </a:solidFill>
                <a:latin typeface="Helvetica World"/>
                <a:ea typeface="Helvetica World"/>
                <a:cs typeface="Helvetica World"/>
                <a:sym typeface="Helvetica World"/>
              </a:rPr>
              <a:t>This connection ensures personalized suggestions for viewers, making their movie choice even more enjoyable.</a:t>
            </a:r>
          </a:p>
          <a:p>
            <a:endParaRPr lang="en-IN" dirty="0"/>
          </a:p>
        </p:txBody>
      </p:sp>
      <p:grpSp>
        <p:nvGrpSpPr>
          <p:cNvPr id="5" name="Group 4">
            <a:extLst>
              <a:ext uri="{FF2B5EF4-FFF2-40B4-BE49-F238E27FC236}">
                <a16:creationId xmlns:a16="http://schemas.microsoft.com/office/drawing/2014/main" id="{FDBA7A7F-2FD5-421F-6E50-ECF811C7BADD}"/>
              </a:ext>
            </a:extLst>
          </p:cNvPr>
          <p:cNvGrpSpPr/>
          <p:nvPr/>
        </p:nvGrpSpPr>
        <p:grpSpPr>
          <a:xfrm>
            <a:off x="1026158" y="1629092"/>
            <a:ext cx="4468610" cy="4744403"/>
            <a:chOff x="243914" y="0"/>
            <a:chExt cx="524914" cy="1051741"/>
          </a:xfrm>
        </p:grpSpPr>
        <p:sp>
          <p:nvSpPr>
            <p:cNvPr id="6" name="Freeform 5">
              <a:extLst>
                <a:ext uri="{FF2B5EF4-FFF2-40B4-BE49-F238E27FC236}">
                  <a16:creationId xmlns:a16="http://schemas.microsoft.com/office/drawing/2014/main" id="{D4AB6B65-D4D6-B9EB-967C-E07C1BCDCC0A}"/>
                </a:ext>
              </a:extLst>
            </p:cNvPr>
            <p:cNvSpPr/>
            <p:nvPr/>
          </p:nvSpPr>
          <p:spPr>
            <a:xfrm>
              <a:off x="243914" y="0"/>
              <a:ext cx="524914" cy="1051741"/>
            </a:xfrm>
            <a:custGeom>
              <a:avLst/>
              <a:gdLst/>
              <a:ahLst/>
              <a:cxnLst/>
              <a:rect l="l" t="t" r="r" b="b"/>
              <a:pathLst>
                <a:path w="768828" h="1051741">
                  <a:moveTo>
                    <a:pt x="53229" y="0"/>
                  </a:moveTo>
                  <a:lnTo>
                    <a:pt x="715599" y="0"/>
                  </a:lnTo>
                  <a:cubicBezTo>
                    <a:pt x="729717" y="0"/>
                    <a:pt x="743256" y="5608"/>
                    <a:pt x="753238" y="15590"/>
                  </a:cubicBezTo>
                  <a:cubicBezTo>
                    <a:pt x="763220" y="25573"/>
                    <a:pt x="768828" y="39112"/>
                    <a:pt x="768828" y="53229"/>
                  </a:cubicBezTo>
                  <a:lnTo>
                    <a:pt x="768828" y="998512"/>
                  </a:lnTo>
                  <a:cubicBezTo>
                    <a:pt x="768828" y="1027909"/>
                    <a:pt x="744997" y="1051741"/>
                    <a:pt x="715599" y="1051741"/>
                  </a:cubicBezTo>
                  <a:lnTo>
                    <a:pt x="53229" y="1051741"/>
                  </a:lnTo>
                  <a:cubicBezTo>
                    <a:pt x="39112" y="1051741"/>
                    <a:pt x="25573" y="1046133"/>
                    <a:pt x="15590" y="1036150"/>
                  </a:cubicBezTo>
                  <a:cubicBezTo>
                    <a:pt x="5608" y="1026168"/>
                    <a:pt x="0" y="1012629"/>
                    <a:pt x="0" y="998512"/>
                  </a:cubicBezTo>
                  <a:lnTo>
                    <a:pt x="0" y="53229"/>
                  </a:lnTo>
                  <a:cubicBezTo>
                    <a:pt x="0" y="23831"/>
                    <a:pt x="23831" y="0"/>
                    <a:pt x="53229" y="0"/>
                  </a:cubicBezTo>
                  <a:close/>
                </a:path>
              </a:pathLst>
            </a:custGeom>
            <a:blipFill>
              <a:blip r:embed="rId2"/>
              <a:stretch>
                <a:fillRect t="-414" b="-414"/>
              </a:stretch>
            </a:blipFill>
          </p:spPr>
        </p:sp>
      </p:grpSp>
    </p:spTree>
    <p:extLst>
      <p:ext uri="{BB962C8B-B14F-4D97-AF65-F5344CB8AC3E}">
        <p14:creationId xmlns:p14="http://schemas.microsoft.com/office/powerpoint/2010/main" val="187676247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444500" y="1938867"/>
            <a:ext cx="3632200" cy="4474633"/>
            <a:chOff x="0" y="0"/>
            <a:chExt cx="1434943" cy="1767756"/>
          </a:xfrm>
        </p:grpSpPr>
        <p:sp>
          <p:nvSpPr>
            <p:cNvPr id="3" name="Freeform 3"/>
            <p:cNvSpPr/>
            <p:nvPr/>
          </p:nvSpPr>
          <p:spPr>
            <a:xfrm>
              <a:off x="0" y="0"/>
              <a:ext cx="1434943" cy="1767756"/>
            </a:xfrm>
            <a:custGeom>
              <a:avLst/>
              <a:gdLst/>
              <a:ahLst/>
              <a:cxnLst/>
              <a:rect l="l" t="t" r="r" b="b"/>
              <a:pathLst>
                <a:path w="1434943" h="1767756">
                  <a:moveTo>
                    <a:pt x="28420" y="0"/>
                  </a:moveTo>
                  <a:lnTo>
                    <a:pt x="1406524" y="0"/>
                  </a:lnTo>
                  <a:cubicBezTo>
                    <a:pt x="1422219" y="0"/>
                    <a:pt x="1434943" y="12724"/>
                    <a:pt x="1434943" y="28420"/>
                  </a:cubicBezTo>
                  <a:lnTo>
                    <a:pt x="1434943" y="1739337"/>
                  </a:lnTo>
                  <a:cubicBezTo>
                    <a:pt x="1434943" y="1755033"/>
                    <a:pt x="1422219" y="1767756"/>
                    <a:pt x="1406524" y="1767756"/>
                  </a:cubicBezTo>
                  <a:lnTo>
                    <a:pt x="28420" y="1767756"/>
                  </a:lnTo>
                  <a:cubicBezTo>
                    <a:pt x="12724" y="1767756"/>
                    <a:pt x="0" y="1755033"/>
                    <a:pt x="0" y="1739337"/>
                  </a:cubicBezTo>
                  <a:lnTo>
                    <a:pt x="0" y="28420"/>
                  </a:lnTo>
                  <a:cubicBezTo>
                    <a:pt x="0" y="12724"/>
                    <a:pt x="12724" y="0"/>
                    <a:pt x="28420" y="0"/>
                  </a:cubicBezTo>
                  <a:close/>
                </a:path>
              </a:pathLst>
            </a:custGeom>
            <a:solidFill>
              <a:srgbClr val="FFD966"/>
            </a:solidFill>
          </p:spPr>
        </p:sp>
        <p:sp>
          <p:nvSpPr>
            <p:cNvPr id="4" name="TextBox 4"/>
            <p:cNvSpPr txBox="1"/>
            <p:nvPr/>
          </p:nvSpPr>
          <p:spPr>
            <a:xfrm>
              <a:off x="0" y="-28575"/>
              <a:ext cx="1434943" cy="1796331"/>
            </a:xfrm>
            <a:prstGeom prst="rect">
              <a:avLst/>
            </a:prstGeom>
          </p:spPr>
          <p:txBody>
            <a:bodyPr lIns="33867" tIns="33867" rIns="33867" bIns="33867" rtlCol="0" anchor="ctr"/>
            <a:lstStyle/>
            <a:p>
              <a:pPr algn="ctr">
                <a:lnSpc>
                  <a:spcPts val="1307"/>
                </a:lnSpc>
              </a:pPr>
              <a:endParaRPr sz="1200"/>
            </a:p>
          </p:txBody>
        </p:sp>
      </p:grpSp>
      <p:grpSp>
        <p:nvGrpSpPr>
          <p:cNvPr id="5" name="Group 5"/>
          <p:cNvGrpSpPr/>
          <p:nvPr/>
        </p:nvGrpSpPr>
        <p:grpSpPr>
          <a:xfrm>
            <a:off x="4279900" y="1938867"/>
            <a:ext cx="3632200" cy="4474633"/>
            <a:chOff x="0" y="0"/>
            <a:chExt cx="1434943" cy="1767756"/>
          </a:xfrm>
        </p:grpSpPr>
        <p:sp>
          <p:nvSpPr>
            <p:cNvPr id="6" name="Freeform 6"/>
            <p:cNvSpPr/>
            <p:nvPr/>
          </p:nvSpPr>
          <p:spPr>
            <a:xfrm>
              <a:off x="0" y="0"/>
              <a:ext cx="1434943" cy="1767756"/>
            </a:xfrm>
            <a:custGeom>
              <a:avLst/>
              <a:gdLst/>
              <a:ahLst/>
              <a:cxnLst/>
              <a:rect l="l" t="t" r="r" b="b"/>
              <a:pathLst>
                <a:path w="1434943" h="1767756">
                  <a:moveTo>
                    <a:pt x="28420" y="0"/>
                  </a:moveTo>
                  <a:lnTo>
                    <a:pt x="1406524" y="0"/>
                  </a:lnTo>
                  <a:cubicBezTo>
                    <a:pt x="1422219" y="0"/>
                    <a:pt x="1434943" y="12724"/>
                    <a:pt x="1434943" y="28420"/>
                  </a:cubicBezTo>
                  <a:lnTo>
                    <a:pt x="1434943" y="1739337"/>
                  </a:lnTo>
                  <a:cubicBezTo>
                    <a:pt x="1434943" y="1755033"/>
                    <a:pt x="1422219" y="1767756"/>
                    <a:pt x="1406524" y="1767756"/>
                  </a:cubicBezTo>
                  <a:lnTo>
                    <a:pt x="28420" y="1767756"/>
                  </a:lnTo>
                  <a:cubicBezTo>
                    <a:pt x="12724" y="1767756"/>
                    <a:pt x="0" y="1755033"/>
                    <a:pt x="0" y="1739337"/>
                  </a:cubicBezTo>
                  <a:lnTo>
                    <a:pt x="0" y="28420"/>
                  </a:lnTo>
                  <a:cubicBezTo>
                    <a:pt x="0" y="12724"/>
                    <a:pt x="12724" y="0"/>
                    <a:pt x="28420" y="0"/>
                  </a:cubicBezTo>
                  <a:close/>
                </a:path>
              </a:pathLst>
            </a:custGeom>
            <a:solidFill>
              <a:srgbClr val="FFD966"/>
            </a:solidFill>
          </p:spPr>
        </p:sp>
        <p:sp>
          <p:nvSpPr>
            <p:cNvPr id="7" name="TextBox 7"/>
            <p:cNvSpPr txBox="1"/>
            <p:nvPr/>
          </p:nvSpPr>
          <p:spPr>
            <a:xfrm>
              <a:off x="0" y="-28575"/>
              <a:ext cx="1434943" cy="1796331"/>
            </a:xfrm>
            <a:prstGeom prst="rect">
              <a:avLst/>
            </a:prstGeom>
          </p:spPr>
          <p:txBody>
            <a:bodyPr lIns="33867" tIns="33867" rIns="33867" bIns="33867" rtlCol="0" anchor="ctr"/>
            <a:lstStyle/>
            <a:p>
              <a:pPr algn="ctr">
                <a:lnSpc>
                  <a:spcPts val="1307"/>
                </a:lnSpc>
              </a:pPr>
              <a:endParaRPr sz="1200"/>
            </a:p>
          </p:txBody>
        </p:sp>
      </p:grpSp>
      <p:grpSp>
        <p:nvGrpSpPr>
          <p:cNvPr id="8" name="Group 8"/>
          <p:cNvGrpSpPr/>
          <p:nvPr/>
        </p:nvGrpSpPr>
        <p:grpSpPr>
          <a:xfrm>
            <a:off x="8115300" y="1938867"/>
            <a:ext cx="3632200" cy="4474633"/>
            <a:chOff x="0" y="0"/>
            <a:chExt cx="1434943" cy="1767756"/>
          </a:xfrm>
        </p:grpSpPr>
        <p:sp>
          <p:nvSpPr>
            <p:cNvPr id="9" name="Freeform 9"/>
            <p:cNvSpPr/>
            <p:nvPr/>
          </p:nvSpPr>
          <p:spPr>
            <a:xfrm>
              <a:off x="0" y="0"/>
              <a:ext cx="1434943" cy="1767756"/>
            </a:xfrm>
            <a:custGeom>
              <a:avLst/>
              <a:gdLst/>
              <a:ahLst/>
              <a:cxnLst/>
              <a:rect l="l" t="t" r="r" b="b"/>
              <a:pathLst>
                <a:path w="1434943" h="1767756">
                  <a:moveTo>
                    <a:pt x="28420" y="0"/>
                  </a:moveTo>
                  <a:lnTo>
                    <a:pt x="1406524" y="0"/>
                  </a:lnTo>
                  <a:cubicBezTo>
                    <a:pt x="1422219" y="0"/>
                    <a:pt x="1434943" y="12724"/>
                    <a:pt x="1434943" y="28420"/>
                  </a:cubicBezTo>
                  <a:lnTo>
                    <a:pt x="1434943" y="1739337"/>
                  </a:lnTo>
                  <a:cubicBezTo>
                    <a:pt x="1434943" y="1755033"/>
                    <a:pt x="1422219" y="1767756"/>
                    <a:pt x="1406524" y="1767756"/>
                  </a:cubicBezTo>
                  <a:lnTo>
                    <a:pt x="28420" y="1767756"/>
                  </a:lnTo>
                  <a:cubicBezTo>
                    <a:pt x="12724" y="1767756"/>
                    <a:pt x="0" y="1755033"/>
                    <a:pt x="0" y="1739337"/>
                  </a:cubicBezTo>
                  <a:lnTo>
                    <a:pt x="0" y="28420"/>
                  </a:lnTo>
                  <a:cubicBezTo>
                    <a:pt x="0" y="12724"/>
                    <a:pt x="12724" y="0"/>
                    <a:pt x="28420" y="0"/>
                  </a:cubicBezTo>
                  <a:close/>
                </a:path>
              </a:pathLst>
            </a:custGeom>
            <a:solidFill>
              <a:srgbClr val="FFD966"/>
            </a:solidFill>
          </p:spPr>
        </p:sp>
        <p:sp>
          <p:nvSpPr>
            <p:cNvPr id="10" name="TextBox 10"/>
            <p:cNvSpPr txBox="1"/>
            <p:nvPr/>
          </p:nvSpPr>
          <p:spPr>
            <a:xfrm>
              <a:off x="0" y="-28575"/>
              <a:ext cx="1434943" cy="1796331"/>
            </a:xfrm>
            <a:prstGeom prst="rect">
              <a:avLst/>
            </a:prstGeom>
          </p:spPr>
          <p:txBody>
            <a:bodyPr lIns="33867" tIns="33867" rIns="33867" bIns="33867" rtlCol="0" anchor="ctr"/>
            <a:lstStyle/>
            <a:p>
              <a:pPr algn="ctr">
                <a:lnSpc>
                  <a:spcPts val="1307"/>
                </a:lnSpc>
              </a:pPr>
              <a:endParaRPr sz="1200"/>
            </a:p>
          </p:txBody>
        </p:sp>
      </p:grpSp>
      <p:grpSp>
        <p:nvGrpSpPr>
          <p:cNvPr id="11" name="Group 11"/>
          <p:cNvGrpSpPr/>
          <p:nvPr/>
        </p:nvGrpSpPr>
        <p:grpSpPr>
          <a:xfrm>
            <a:off x="710702" y="2832100"/>
            <a:ext cx="3099796" cy="2387600"/>
            <a:chOff x="0" y="0"/>
            <a:chExt cx="1259398" cy="970044"/>
          </a:xfrm>
        </p:grpSpPr>
        <p:sp>
          <p:nvSpPr>
            <p:cNvPr id="12" name="Freeform 12"/>
            <p:cNvSpPr/>
            <p:nvPr/>
          </p:nvSpPr>
          <p:spPr>
            <a:xfrm>
              <a:off x="0" y="0"/>
              <a:ext cx="1259398" cy="970044"/>
            </a:xfrm>
            <a:custGeom>
              <a:avLst/>
              <a:gdLst/>
              <a:ahLst/>
              <a:cxnLst/>
              <a:rect l="l" t="t" r="r" b="b"/>
              <a:pathLst>
                <a:path w="1259398" h="970044">
                  <a:moveTo>
                    <a:pt x="33301" y="0"/>
                  </a:moveTo>
                  <a:lnTo>
                    <a:pt x="1226097" y="0"/>
                  </a:lnTo>
                  <a:cubicBezTo>
                    <a:pt x="1244489" y="0"/>
                    <a:pt x="1259398" y="14909"/>
                    <a:pt x="1259398" y="33301"/>
                  </a:cubicBezTo>
                  <a:lnTo>
                    <a:pt x="1259398" y="936743"/>
                  </a:lnTo>
                  <a:cubicBezTo>
                    <a:pt x="1259398" y="955135"/>
                    <a:pt x="1244489" y="970044"/>
                    <a:pt x="1226097" y="970044"/>
                  </a:cubicBezTo>
                  <a:lnTo>
                    <a:pt x="33301" y="970044"/>
                  </a:lnTo>
                  <a:cubicBezTo>
                    <a:pt x="24469" y="970044"/>
                    <a:pt x="15999" y="966535"/>
                    <a:pt x="9754" y="960290"/>
                  </a:cubicBezTo>
                  <a:cubicBezTo>
                    <a:pt x="3508" y="954045"/>
                    <a:pt x="0" y="945575"/>
                    <a:pt x="0" y="936743"/>
                  </a:cubicBezTo>
                  <a:lnTo>
                    <a:pt x="0" y="33301"/>
                  </a:lnTo>
                  <a:cubicBezTo>
                    <a:pt x="0" y="24469"/>
                    <a:pt x="3508" y="15999"/>
                    <a:pt x="9754" y="9754"/>
                  </a:cubicBezTo>
                  <a:cubicBezTo>
                    <a:pt x="15999" y="3508"/>
                    <a:pt x="24469" y="0"/>
                    <a:pt x="33301" y="0"/>
                  </a:cubicBezTo>
                  <a:close/>
                </a:path>
              </a:pathLst>
            </a:custGeom>
            <a:blipFill>
              <a:blip r:embed="rId2"/>
              <a:stretch>
                <a:fillRect l="-342" r="-342"/>
              </a:stretch>
            </a:blipFill>
          </p:spPr>
        </p:sp>
      </p:grpSp>
      <p:grpSp>
        <p:nvGrpSpPr>
          <p:cNvPr id="13" name="Group 13"/>
          <p:cNvGrpSpPr/>
          <p:nvPr/>
        </p:nvGrpSpPr>
        <p:grpSpPr>
          <a:xfrm>
            <a:off x="4546102" y="2832100"/>
            <a:ext cx="3099796" cy="2387600"/>
            <a:chOff x="0" y="0"/>
            <a:chExt cx="1259398" cy="970044"/>
          </a:xfrm>
        </p:grpSpPr>
        <p:sp>
          <p:nvSpPr>
            <p:cNvPr id="14" name="Freeform 14"/>
            <p:cNvSpPr/>
            <p:nvPr/>
          </p:nvSpPr>
          <p:spPr>
            <a:xfrm>
              <a:off x="0" y="0"/>
              <a:ext cx="1259398" cy="970044"/>
            </a:xfrm>
            <a:custGeom>
              <a:avLst/>
              <a:gdLst/>
              <a:ahLst/>
              <a:cxnLst/>
              <a:rect l="l" t="t" r="r" b="b"/>
              <a:pathLst>
                <a:path w="1259398" h="970044">
                  <a:moveTo>
                    <a:pt x="33301" y="0"/>
                  </a:moveTo>
                  <a:lnTo>
                    <a:pt x="1226097" y="0"/>
                  </a:lnTo>
                  <a:cubicBezTo>
                    <a:pt x="1244489" y="0"/>
                    <a:pt x="1259398" y="14909"/>
                    <a:pt x="1259398" y="33301"/>
                  </a:cubicBezTo>
                  <a:lnTo>
                    <a:pt x="1259398" y="936743"/>
                  </a:lnTo>
                  <a:cubicBezTo>
                    <a:pt x="1259398" y="955135"/>
                    <a:pt x="1244489" y="970044"/>
                    <a:pt x="1226097" y="970044"/>
                  </a:cubicBezTo>
                  <a:lnTo>
                    <a:pt x="33301" y="970044"/>
                  </a:lnTo>
                  <a:cubicBezTo>
                    <a:pt x="24469" y="970044"/>
                    <a:pt x="15999" y="966535"/>
                    <a:pt x="9754" y="960290"/>
                  </a:cubicBezTo>
                  <a:cubicBezTo>
                    <a:pt x="3508" y="954045"/>
                    <a:pt x="0" y="945575"/>
                    <a:pt x="0" y="936743"/>
                  </a:cubicBezTo>
                  <a:lnTo>
                    <a:pt x="0" y="33301"/>
                  </a:lnTo>
                  <a:cubicBezTo>
                    <a:pt x="0" y="24469"/>
                    <a:pt x="3508" y="15999"/>
                    <a:pt x="9754" y="9754"/>
                  </a:cubicBezTo>
                  <a:cubicBezTo>
                    <a:pt x="15999" y="3508"/>
                    <a:pt x="24469" y="0"/>
                    <a:pt x="33301" y="0"/>
                  </a:cubicBezTo>
                  <a:close/>
                </a:path>
              </a:pathLst>
            </a:custGeom>
            <a:blipFill>
              <a:blip r:embed="rId3"/>
              <a:stretch>
                <a:fillRect l="-342" r="-342"/>
              </a:stretch>
            </a:blipFill>
          </p:spPr>
        </p:sp>
      </p:grpSp>
      <p:grpSp>
        <p:nvGrpSpPr>
          <p:cNvPr id="15" name="Group 15"/>
          <p:cNvGrpSpPr/>
          <p:nvPr/>
        </p:nvGrpSpPr>
        <p:grpSpPr>
          <a:xfrm>
            <a:off x="8381502" y="2832100"/>
            <a:ext cx="3099796" cy="2387600"/>
            <a:chOff x="0" y="0"/>
            <a:chExt cx="1259398" cy="970044"/>
          </a:xfrm>
        </p:grpSpPr>
        <p:sp>
          <p:nvSpPr>
            <p:cNvPr id="16" name="Freeform 16"/>
            <p:cNvSpPr/>
            <p:nvPr/>
          </p:nvSpPr>
          <p:spPr>
            <a:xfrm>
              <a:off x="0" y="0"/>
              <a:ext cx="1259398" cy="970044"/>
            </a:xfrm>
            <a:custGeom>
              <a:avLst/>
              <a:gdLst/>
              <a:ahLst/>
              <a:cxnLst/>
              <a:rect l="l" t="t" r="r" b="b"/>
              <a:pathLst>
                <a:path w="1259398" h="970044">
                  <a:moveTo>
                    <a:pt x="33301" y="0"/>
                  </a:moveTo>
                  <a:lnTo>
                    <a:pt x="1226097" y="0"/>
                  </a:lnTo>
                  <a:cubicBezTo>
                    <a:pt x="1244489" y="0"/>
                    <a:pt x="1259398" y="14909"/>
                    <a:pt x="1259398" y="33301"/>
                  </a:cubicBezTo>
                  <a:lnTo>
                    <a:pt x="1259398" y="936743"/>
                  </a:lnTo>
                  <a:cubicBezTo>
                    <a:pt x="1259398" y="955135"/>
                    <a:pt x="1244489" y="970044"/>
                    <a:pt x="1226097" y="970044"/>
                  </a:cubicBezTo>
                  <a:lnTo>
                    <a:pt x="33301" y="970044"/>
                  </a:lnTo>
                  <a:cubicBezTo>
                    <a:pt x="24469" y="970044"/>
                    <a:pt x="15999" y="966535"/>
                    <a:pt x="9754" y="960290"/>
                  </a:cubicBezTo>
                  <a:cubicBezTo>
                    <a:pt x="3508" y="954045"/>
                    <a:pt x="0" y="945575"/>
                    <a:pt x="0" y="936743"/>
                  </a:cubicBezTo>
                  <a:lnTo>
                    <a:pt x="0" y="33301"/>
                  </a:lnTo>
                  <a:cubicBezTo>
                    <a:pt x="0" y="24469"/>
                    <a:pt x="3508" y="15999"/>
                    <a:pt x="9754" y="9754"/>
                  </a:cubicBezTo>
                  <a:cubicBezTo>
                    <a:pt x="15999" y="3508"/>
                    <a:pt x="24469" y="0"/>
                    <a:pt x="33301" y="0"/>
                  </a:cubicBezTo>
                  <a:close/>
                </a:path>
              </a:pathLst>
            </a:custGeom>
            <a:blipFill>
              <a:blip r:embed="rId4"/>
              <a:stretch>
                <a:fillRect l="-342" r="-342"/>
              </a:stretch>
            </a:blipFill>
          </p:spPr>
        </p:sp>
      </p:grpSp>
      <p:sp>
        <p:nvSpPr>
          <p:cNvPr id="17" name="TextBox 17"/>
          <p:cNvSpPr txBox="1"/>
          <p:nvPr/>
        </p:nvSpPr>
        <p:spPr>
          <a:xfrm>
            <a:off x="681189" y="5534698"/>
            <a:ext cx="3158823" cy="523861"/>
          </a:xfrm>
          <a:prstGeom prst="rect">
            <a:avLst/>
          </a:prstGeom>
        </p:spPr>
        <p:txBody>
          <a:bodyPr lIns="0" tIns="0" rIns="0" bIns="0" rtlCol="0" anchor="t">
            <a:spAutoFit/>
          </a:bodyPr>
          <a:lstStyle/>
          <a:p>
            <a:pPr algn="ctr">
              <a:lnSpc>
                <a:spcPts val="1446"/>
              </a:lnSpc>
            </a:pPr>
            <a:r>
              <a:rPr lang="en-US" sz="1033" spc="-15">
                <a:solidFill>
                  <a:srgbClr val="6A2C70"/>
                </a:solidFill>
                <a:latin typeface="Helvetica World"/>
                <a:ea typeface="Helvetica World"/>
                <a:cs typeface="Helvetica World"/>
                <a:sym typeface="Helvetica World"/>
              </a:rPr>
              <a:t>Sentiment analysis tailors recommendations to individual preferences, enhancing the movie-watching experience significantly.</a:t>
            </a:r>
          </a:p>
        </p:txBody>
      </p:sp>
      <p:sp>
        <p:nvSpPr>
          <p:cNvPr id="18" name="TextBox 18"/>
          <p:cNvSpPr txBox="1"/>
          <p:nvPr/>
        </p:nvSpPr>
        <p:spPr>
          <a:xfrm>
            <a:off x="694045" y="2247901"/>
            <a:ext cx="3133111" cy="333425"/>
          </a:xfrm>
          <a:prstGeom prst="rect">
            <a:avLst/>
          </a:prstGeom>
        </p:spPr>
        <p:txBody>
          <a:bodyPr lIns="0" tIns="0" rIns="0" bIns="0" rtlCol="0" anchor="t">
            <a:spAutoFit/>
          </a:bodyPr>
          <a:lstStyle/>
          <a:p>
            <a:pPr algn="ctr">
              <a:lnSpc>
                <a:spcPts val="2612"/>
              </a:lnSpc>
              <a:spcBef>
                <a:spcPct val="0"/>
              </a:spcBef>
            </a:pPr>
            <a:r>
              <a:rPr lang="en-US" sz="2375" spc="-59">
                <a:solidFill>
                  <a:srgbClr val="6A2C70"/>
                </a:solidFill>
                <a:latin typeface="Georgia Pro Condensed"/>
                <a:ea typeface="Georgia Pro Condensed"/>
                <a:cs typeface="Georgia Pro Condensed"/>
                <a:sym typeface="Georgia Pro Condensed"/>
              </a:rPr>
              <a:t>Better Personalization</a:t>
            </a:r>
          </a:p>
        </p:txBody>
      </p:sp>
      <p:sp>
        <p:nvSpPr>
          <p:cNvPr id="19" name="TextBox 19"/>
          <p:cNvSpPr txBox="1"/>
          <p:nvPr/>
        </p:nvSpPr>
        <p:spPr>
          <a:xfrm>
            <a:off x="4515462" y="5534698"/>
            <a:ext cx="3161077" cy="523861"/>
          </a:xfrm>
          <a:prstGeom prst="rect">
            <a:avLst/>
          </a:prstGeom>
        </p:spPr>
        <p:txBody>
          <a:bodyPr lIns="0" tIns="0" rIns="0" bIns="0" rtlCol="0" anchor="t">
            <a:spAutoFit/>
          </a:bodyPr>
          <a:lstStyle/>
          <a:p>
            <a:pPr algn="ctr">
              <a:lnSpc>
                <a:spcPts val="1446"/>
              </a:lnSpc>
            </a:pPr>
            <a:r>
              <a:rPr lang="en-US" sz="1033" spc="-15">
                <a:solidFill>
                  <a:srgbClr val="6A2C70"/>
                </a:solidFill>
                <a:latin typeface="Helvetica World"/>
                <a:ea typeface="Helvetica World"/>
                <a:cs typeface="Helvetica World"/>
                <a:sym typeface="Helvetica World"/>
              </a:rPr>
              <a:t>By providing relevant suggestions, sentiment analysis boosts satisfaction and keeps viewers returning for more.</a:t>
            </a:r>
          </a:p>
        </p:txBody>
      </p:sp>
      <p:sp>
        <p:nvSpPr>
          <p:cNvPr id="20" name="TextBox 20"/>
          <p:cNvSpPr txBox="1"/>
          <p:nvPr/>
        </p:nvSpPr>
        <p:spPr>
          <a:xfrm>
            <a:off x="4515462" y="2247901"/>
            <a:ext cx="3161077" cy="666849"/>
          </a:xfrm>
          <a:prstGeom prst="rect">
            <a:avLst/>
          </a:prstGeom>
        </p:spPr>
        <p:txBody>
          <a:bodyPr lIns="0" tIns="0" rIns="0" bIns="0" rtlCol="0" anchor="t">
            <a:spAutoFit/>
          </a:bodyPr>
          <a:lstStyle/>
          <a:p>
            <a:pPr algn="ctr">
              <a:lnSpc>
                <a:spcPts val="2612"/>
              </a:lnSpc>
              <a:spcBef>
                <a:spcPct val="0"/>
              </a:spcBef>
            </a:pPr>
            <a:r>
              <a:rPr lang="en-US" sz="2375" spc="-59">
                <a:solidFill>
                  <a:srgbClr val="6A2C70"/>
                </a:solidFill>
                <a:latin typeface="Georgia Pro Condensed"/>
                <a:ea typeface="Georgia Pro Condensed"/>
                <a:cs typeface="Georgia Pro Condensed"/>
                <a:sym typeface="Georgia Pro Condensed"/>
              </a:rPr>
              <a:t>Improved User Satisfaction</a:t>
            </a:r>
          </a:p>
        </p:txBody>
      </p:sp>
      <p:sp>
        <p:nvSpPr>
          <p:cNvPr id="21" name="TextBox 21"/>
          <p:cNvSpPr txBox="1"/>
          <p:nvPr/>
        </p:nvSpPr>
        <p:spPr>
          <a:xfrm>
            <a:off x="8367406" y="5533930"/>
            <a:ext cx="3127989" cy="523861"/>
          </a:xfrm>
          <a:prstGeom prst="rect">
            <a:avLst/>
          </a:prstGeom>
        </p:spPr>
        <p:txBody>
          <a:bodyPr lIns="0" tIns="0" rIns="0" bIns="0" rtlCol="0" anchor="t">
            <a:spAutoFit/>
          </a:bodyPr>
          <a:lstStyle/>
          <a:p>
            <a:pPr algn="ctr">
              <a:lnSpc>
                <a:spcPts val="1446"/>
              </a:lnSpc>
            </a:pPr>
            <a:r>
              <a:rPr lang="en-US" sz="1033" spc="-15">
                <a:solidFill>
                  <a:srgbClr val="6A2C70"/>
                </a:solidFill>
                <a:latin typeface="Helvetica World"/>
                <a:ea typeface="Helvetica World"/>
                <a:cs typeface="Helvetica World"/>
                <a:sym typeface="Helvetica World"/>
              </a:rPr>
              <a:t>Sentiment analysis uncovers unique films that users might otherwise overlook, enriching their viewing choices.</a:t>
            </a:r>
          </a:p>
        </p:txBody>
      </p:sp>
      <p:sp>
        <p:nvSpPr>
          <p:cNvPr id="22" name="TextBox 22"/>
          <p:cNvSpPr txBox="1"/>
          <p:nvPr/>
        </p:nvSpPr>
        <p:spPr>
          <a:xfrm>
            <a:off x="8367406" y="2247901"/>
            <a:ext cx="3127989" cy="666849"/>
          </a:xfrm>
          <a:prstGeom prst="rect">
            <a:avLst/>
          </a:prstGeom>
        </p:spPr>
        <p:txBody>
          <a:bodyPr lIns="0" tIns="0" rIns="0" bIns="0" rtlCol="0" anchor="t">
            <a:spAutoFit/>
          </a:bodyPr>
          <a:lstStyle/>
          <a:p>
            <a:pPr algn="ctr">
              <a:lnSpc>
                <a:spcPts val="2612"/>
              </a:lnSpc>
            </a:pPr>
            <a:r>
              <a:rPr lang="en-US" sz="2375" spc="-59">
                <a:solidFill>
                  <a:srgbClr val="6A2C70"/>
                </a:solidFill>
                <a:latin typeface="Georgia Pro Condensed"/>
                <a:ea typeface="Georgia Pro Condensed"/>
                <a:cs typeface="Georgia Pro Condensed"/>
                <a:sym typeface="Georgia Pro Condensed"/>
              </a:rPr>
              <a:t>Discovering Hidden Gems</a:t>
            </a:r>
          </a:p>
        </p:txBody>
      </p:sp>
      <p:sp>
        <p:nvSpPr>
          <p:cNvPr id="23" name="TextBox 23"/>
          <p:cNvSpPr txBox="1"/>
          <p:nvPr/>
        </p:nvSpPr>
        <p:spPr>
          <a:xfrm>
            <a:off x="444500" y="539751"/>
            <a:ext cx="11303000" cy="679673"/>
          </a:xfrm>
          <a:prstGeom prst="rect">
            <a:avLst/>
          </a:prstGeom>
        </p:spPr>
        <p:txBody>
          <a:bodyPr lIns="0" tIns="0" rIns="0" bIns="0" rtlCol="0" anchor="t">
            <a:spAutoFit/>
          </a:bodyPr>
          <a:lstStyle/>
          <a:p>
            <a:pPr algn="ctr">
              <a:lnSpc>
                <a:spcPts val="5334"/>
              </a:lnSpc>
            </a:pPr>
            <a:r>
              <a:rPr lang="en-US" sz="5334" spc="-133" dirty="0">
                <a:solidFill>
                  <a:srgbClr val="F08A5D"/>
                </a:solidFill>
                <a:latin typeface="Georgia Pro Condensed"/>
                <a:ea typeface="Georgia Pro Condensed"/>
                <a:cs typeface="Georgia Pro Condensed"/>
                <a:sym typeface="Georgia Pro Condensed"/>
              </a:rPr>
              <a:t>Benefits of Sentiment Analysis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4279900" y="4652011"/>
            <a:ext cx="3632200" cy="1790700"/>
            <a:chOff x="0" y="0"/>
            <a:chExt cx="1434943" cy="707437"/>
          </a:xfrm>
        </p:grpSpPr>
        <p:sp>
          <p:nvSpPr>
            <p:cNvPr id="3" name="Freeform 3"/>
            <p:cNvSpPr/>
            <p:nvPr/>
          </p:nvSpPr>
          <p:spPr>
            <a:xfrm>
              <a:off x="0" y="0"/>
              <a:ext cx="1434943" cy="707437"/>
            </a:xfrm>
            <a:custGeom>
              <a:avLst/>
              <a:gdLst/>
              <a:ahLst/>
              <a:cxnLst/>
              <a:rect l="l" t="t" r="r" b="b"/>
              <a:pathLst>
                <a:path w="1434943" h="707437">
                  <a:moveTo>
                    <a:pt x="56839" y="0"/>
                  </a:moveTo>
                  <a:lnTo>
                    <a:pt x="1378104" y="0"/>
                  </a:lnTo>
                  <a:cubicBezTo>
                    <a:pt x="1409495" y="0"/>
                    <a:pt x="1434943" y="25448"/>
                    <a:pt x="1434943" y="56839"/>
                  </a:cubicBezTo>
                  <a:lnTo>
                    <a:pt x="1434943" y="650598"/>
                  </a:lnTo>
                  <a:cubicBezTo>
                    <a:pt x="1434943" y="681989"/>
                    <a:pt x="1409495" y="707437"/>
                    <a:pt x="1378104" y="707437"/>
                  </a:cubicBezTo>
                  <a:lnTo>
                    <a:pt x="56839" y="707437"/>
                  </a:lnTo>
                  <a:cubicBezTo>
                    <a:pt x="25448" y="707437"/>
                    <a:pt x="0" y="681989"/>
                    <a:pt x="0" y="650598"/>
                  </a:cubicBezTo>
                  <a:lnTo>
                    <a:pt x="0" y="56839"/>
                  </a:lnTo>
                  <a:cubicBezTo>
                    <a:pt x="0" y="25448"/>
                    <a:pt x="25448" y="0"/>
                    <a:pt x="56839" y="0"/>
                  </a:cubicBezTo>
                  <a:close/>
                </a:path>
              </a:pathLst>
            </a:custGeom>
            <a:solidFill>
              <a:srgbClr val="F4976C"/>
            </a:solidFill>
            <a:ln w="28575" cap="rnd">
              <a:solidFill>
                <a:srgbClr val="000000"/>
              </a:solidFill>
              <a:prstDash val="solid"/>
              <a:round/>
            </a:ln>
          </p:spPr>
        </p:sp>
        <p:sp>
          <p:nvSpPr>
            <p:cNvPr id="4" name="TextBox 4"/>
            <p:cNvSpPr txBox="1"/>
            <p:nvPr/>
          </p:nvSpPr>
          <p:spPr>
            <a:xfrm>
              <a:off x="0" y="-28575"/>
              <a:ext cx="1434943" cy="736012"/>
            </a:xfrm>
            <a:prstGeom prst="rect">
              <a:avLst/>
            </a:prstGeom>
          </p:spPr>
          <p:txBody>
            <a:bodyPr lIns="33867" tIns="33867" rIns="33867" bIns="33867" rtlCol="0" anchor="ctr"/>
            <a:lstStyle/>
            <a:p>
              <a:pPr algn="ctr">
                <a:lnSpc>
                  <a:spcPts val="1307"/>
                </a:lnSpc>
                <a:spcBef>
                  <a:spcPct val="0"/>
                </a:spcBef>
              </a:pPr>
              <a:endParaRPr sz="1200"/>
            </a:p>
          </p:txBody>
        </p:sp>
      </p:grpSp>
      <p:sp>
        <p:nvSpPr>
          <p:cNvPr id="11" name="TextBox 11"/>
          <p:cNvSpPr txBox="1"/>
          <p:nvPr/>
        </p:nvSpPr>
        <p:spPr>
          <a:xfrm>
            <a:off x="467614" y="552450"/>
            <a:ext cx="11303000" cy="730969"/>
          </a:xfrm>
          <a:prstGeom prst="rect">
            <a:avLst/>
          </a:prstGeom>
        </p:spPr>
        <p:txBody>
          <a:bodyPr lIns="0" tIns="0" rIns="0" bIns="0" rtlCol="0" anchor="t">
            <a:spAutoFit/>
          </a:bodyPr>
          <a:lstStyle/>
          <a:p>
            <a:pPr algn="ctr">
              <a:lnSpc>
                <a:spcPts val="5666"/>
              </a:lnSpc>
              <a:spcBef>
                <a:spcPct val="0"/>
              </a:spcBef>
            </a:pPr>
            <a:r>
              <a:rPr lang="en-US" sz="5666" spc="-113">
                <a:solidFill>
                  <a:srgbClr val="22577A"/>
                </a:solidFill>
                <a:latin typeface="Cooper BT Light"/>
                <a:ea typeface="Cooper BT Light"/>
                <a:cs typeface="Cooper BT Light"/>
                <a:sym typeface="Cooper BT Light"/>
              </a:rPr>
              <a:t>Movie Recommendation Magic</a:t>
            </a:r>
          </a:p>
        </p:txBody>
      </p:sp>
      <p:grpSp>
        <p:nvGrpSpPr>
          <p:cNvPr id="12" name="Group 12"/>
          <p:cNvGrpSpPr/>
          <p:nvPr/>
        </p:nvGrpSpPr>
        <p:grpSpPr>
          <a:xfrm>
            <a:off x="8115300" y="1638300"/>
            <a:ext cx="3632200" cy="2737453"/>
            <a:chOff x="0" y="0"/>
            <a:chExt cx="1078467" cy="812800"/>
          </a:xfrm>
        </p:grpSpPr>
        <p:sp>
          <p:nvSpPr>
            <p:cNvPr id="13" name="Freeform 13"/>
            <p:cNvSpPr/>
            <p:nvPr/>
          </p:nvSpPr>
          <p:spPr>
            <a:xfrm>
              <a:off x="0" y="0"/>
              <a:ext cx="1078467" cy="812800"/>
            </a:xfrm>
            <a:custGeom>
              <a:avLst/>
              <a:gdLst/>
              <a:ahLst/>
              <a:cxnLst/>
              <a:rect l="l" t="t" r="r" b="b"/>
              <a:pathLst>
                <a:path w="1078467" h="812800">
                  <a:moveTo>
                    <a:pt x="56839" y="0"/>
                  </a:moveTo>
                  <a:lnTo>
                    <a:pt x="1021628" y="0"/>
                  </a:lnTo>
                  <a:cubicBezTo>
                    <a:pt x="1053019" y="0"/>
                    <a:pt x="1078467" y="25448"/>
                    <a:pt x="1078467" y="56839"/>
                  </a:cubicBezTo>
                  <a:lnTo>
                    <a:pt x="1078467" y="755961"/>
                  </a:lnTo>
                  <a:cubicBezTo>
                    <a:pt x="1078467" y="787352"/>
                    <a:pt x="1053019" y="812800"/>
                    <a:pt x="1021628" y="812800"/>
                  </a:cubicBezTo>
                  <a:lnTo>
                    <a:pt x="56839" y="812800"/>
                  </a:lnTo>
                  <a:cubicBezTo>
                    <a:pt x="25448" y="812800"/>
                    <a:pt x="0" y="787352"/>
                    <a:pt x="0" y="755961"/>
                  </a:cubicBezTo>
                  <a:lnTo>
                    <a:pt x="0" y="56839"/>
                  </a:lnTo>
                  <a:cubicBezTo>
                    <a:pt x="0" y="25448"/>
                    <a:pt x="25448" y="0"/>
                    <a:pt x="56839" y="0"/>
                  </a:cubicBezTo>
                  <a:close/>
                </a:path>
              </a:pathLst>
            </a:custGeom>
            <a:blipFill>
              <a:blip r:embed="rId2"/>
              <a:stretch>
                <a:fillRect l="-412" r="-412"/>
              </a:stretch>
            </a:blipFill>
          </p:spPr>
        </p:sp>
      </p:grpSp>
      <p:grpSp>
        <p:nvGrpSpPr>
          <p:cNvPr id="14" name="Group 14"/>
          <p:cNvGrpSpPr/>
          <p:nvPr/>
        </p:nvGrpSpPr>
        <p:grpSpPr>
          <a:xfrm>
            <a:off x="4279900" y="1638300"/>
            <a:ext cx="3632200" cy="2737453"/>
            <a:chOff x="0" y="0"/>
            <a:chExt cx="1078467" cy="812800"/>
          </a:xfrm>
        </p:grpSpPr>
        <p:sp>
          <p:nvSpPr>
            <p:cNvPr id="15" name="Freeform 15"/>
            <p:cNvSpPr/>
            <p:nvPr/>
          </p:nvSpPr>
          <p:spPr>
            <a:xfrm>
              <a:off x="0" y="0"/>
              <a:ext cx="1078467" cy="812800"/>
            </a:xfrm>
            <a:custGeom>
              <a:avLst/>
              <a:gdLst/>
              <a:ahLst/>
              <a:cxnLst/>
              <a:rect l="l" t="t" r="r" b="b"/>
              <a:pathLst>
                <a:path w="1078467" h="812800">
                  <a:moveTo>
                    <a:pt x="56839" y="0"/>
                  </a:moveTo>
                  <a:lnTo>
                    <a:pt x="1021628" y="0"/>
                  </a:lnTo>
                  <a:cubicBezTo>
                    <a:pt x="1053019" y="0"/>
                    <a:pt x="1078467" y="25448"/>
                    <a:pt x="1078467" y="56839"/>
                  </a:cubicBezTo>
                  <a:lnTo>
                    <a:pt x="1078467" y="755961"/>
                  </a:lnTo>
                  <a:cubicBezTo>
                    <a:pt x="1078467" y="787352"/>
                    <a:pt x="1053019" y="812800"/>
                    <a:pt x="1021628" y="812800"/>
                  </a:cubicBezTo>
                  <a:lnTo>
                    <a:pt x="56839" y="812800"/>
                  </a:lnTo>
                  <a:cubicBezTo>
                    <a:pt x="25448" y="812800"/>
                    <a:pt x="0" y="787352"/>
                    <a:pt x="0" y="755961"/>
                  </a:cubicBezTo>
                  <a:lnTo>
                    <a:pt x="0" y="56839"/>
                  </a:lnTo>
                  <a:cubicBezTo>
                    <a:pt x="0" y="25448"/>
                    <a:pt x="25448" y="0"/>
                    <a:pt x="56839" y="0"/>
                  </a:cubicBezTo>
                  <a:close/>
                </a:path>
              </a:pathLst>
            </a:custGeom>
            <a:blipFill>
              <a:blip r:embed="rId3"/>
              <a:stretch>
                <a:fillRect l="-412" r="-412"/>
              </a:stretch>
            </a:blipFill>
          </p:spPr>
        </p:sp>
      </p:grpSp>
      <p:grpSp>
        <p:nvGrpSpPr>
          <p:cNvPr id="16" name="Group 16"/>
          <p:cNvGrpSpPr/>
          <p:nvPr/>
        </p:nvGrpSpPr>
        <p:grpSpPr>
          <a:xfrm>
            <a:off x="444500" y="1638300"/>
            <a:ext cx="3632200" cy="2737453"/>
            <a:chOff x="0" y="0"/>
            <a:chExt cx="1078467" cy="812800"/>
          </a:xfrm>
        </p:grpSpPr>
        <p:sp>
          <p:nvSpPr>
            <p:cNvPr id="17" name="Freeform 17"/>
            <p:cNvSpPr/>
            <p:nvPr/>
          </p:nvSpPr>
          <p:spPr>
            <a:xfrm>
              <a:off x="0" y="0"/>
              <a:ext cx="1078467" cy="812800"/>
            </a:xfrm>
            <a:custGeom>
              <a:avLst/>
              <a:gdLst/>
              <a:ahLst/>
              <a:cxnLst/>
              <a:rect l="l" t="t" r="r" b="b"/>
              <a:pathLst>
                <a:path w="1078467" h="812800">
                  <a:moveTo>
                    <a:pt x="56839" y="0"/>
                  </a:moveTo>
                  <a:lnTo>
                    <a:pt x="1021628" y="0"/>
                  </a:lnTo>
                  <a:cubicBezTo>
                    <a:pt x="1053019" y="0"/>
                    <a:pt x="1078467" y="25448"/>
                    <a:pt x="1078467" y="56839"/>
                  </a:cubicBezTo>
                  <a:lnTo>
                    <a:pt x="1078467" y="755961"/>
                  </a:lnTo>
                  <a:cubicBezTo>
                    <a:pt x="1078467" y="787352"/>
                    <a:pt x="1053019" y="812800"/>
                    <a:pt x="1021628" y="812800"/>
                  </a:cubicBezTo>
                  <a:lnTo>
                    <a:pt x="56839" y="812800"/>
                  </a:lnTo>
                  <a:cubicBezTo>
                    <a:pt x="25448" y="812800"/>
                    <a:pt x="0" y="787352"/>
                    <a:pt x="0" y="755961"/>
                  </a:cubicBezTo>
                  <a:lnTo>
                    <a:pt x="0" y="56839"/>
                  </a:lnTo>
                  <a:cubicBezTo>
                    <a:pt x="0" y="25448"/>
                    <a:pt x="25448" y="0"/>
                    <a:pt x="56839" y="0"/>
                  </a:cubicBezTo>
                  <a:close/>
                </a:path>
              </a:pathLst>
            </a:custGeom>
            <a:blipFill>
              <a:blip r:embed="rId4"/>
              <a:stretch>
                <a:fillRect l="-412" r="-412"/>
              </a:stretch>
            </a:blipFill>
          </p:spPr>
        </p:sp>
      </p:grpSp>
      <p:grpSp>
        <p:nvGrpSpPr>
          <p:cNvPr id="18" name="Group 18"/>
          <p:cNvGrpSpPr/>
          <p:nvPr/>
        </p:nvGrpSpPr>
        <p:grpSpPr>
          <a:xfrm>
            <a:off x="4595114" y="4974758"/>
            <a:ext cx="3048000" cy="1072875"/>
            <a:chOff x="0" y="-9525"/>
            <a:chExt cx="6096000" cy="2145748"/>
          </a:xfrm>
        </p:grpSpPr>
        <p:sp>
          <p:nvSpPr>
            <p:cNvPr id="19" name="TextBox 19"/>
            <p:cNvSpPr txBox="1"/>
            <p:nvPr/>
          </p:nvSpPr>
          <p:spPr>
            <a:xfrm>
              <a:off x="0" y="-9525"/>
              <a:ext cx="6096000" cy="615554"/>
            </a:xfrm>
            <a:prstGeom prst="rect">
              <a:avLst/>
            </a:prstGeom>
          </p:spPr>
          <p:txBody>
            <a:bodyPr lIns="0" tIns="0" rIns="0" bIns="0" rtlCol="0" anchor="t">
              <a:spAutoFit/>
            </a:bodyPr>
            <a:lstStyle/>
            <a:p>
              <a:pPr algn="ctr">
                <a:lnSpc>
                  <a:spcPts val="2400"/>
                </a:lnSpc>
                <a:spcBef>
                  <a:spcPct val="0"/>
                </a:spcBef>
              </a:pPr>
              <a:r>
                <a:rPr lang="en-US" sz="2000" dirty="0">
                  <a:solidFill>
                    <a:srgbClr val="22577A"/>
                  </a:solidFill>
                  <a:latin typeface="Cooper BT Medium"/>
                  <a:ea typeface="Cooper BT Medium"/>
                  <a:cs typeface="Cooper BT Medium"/>
                  <a:sym typeface="Cooper BT Medium"/>
                </a:rPr>
                <a:t>Enhanced Experience</a:t>
              </a:r>
            </a:p>
          </p:txBody>
        </p:sp>
        <p:sp>
          <p:nvSpPr>
            <p:cNvPr id="20" name="TextBox 20"/>
            <p:cNvSpPr txBox="1"/>
            <p:nvPr/>
          </p:nvSpPr>
          <p:spPr>
            <a:xfrm>
              <a:off x="0" y="1155700"/>
              <a:ext cx="6096000" cy="980523"/>
            </a:xfrm>
            <a:prstGeom prst="rect">
              <a:avLst/>
            </a:prstGeom>
          </p:spPr>
          <p:txBody>
            <a:bodyPr lIns="0" tIns="0" rIns="0" bIns="0" rtlCol="0" anchor="t">
              <a:spAutoFit/>
            </a:bodyPr>
            <a:lstStyle/>
            <a:p>
              <a:pPr algn="ctr">
                <a:lnSpc>
                  <a:spcPts val="1985"/>
                </a:lnSpc>
                <a:spcBef>
                  <a:spcPct val="0"/>
                </a:spcBef>
              </a:pPr>
              <a:r>
                <a:rPr lang="en-US" sz="1417">
                  <a:solidFill>
                    <a:srgbClr val="22577A"/>
                  </a:solidFill>
                  <a:latin typeface="TT Interphases"/>
                  <a:ea typeface="TT Interphases"/>
                  <a:cs typeface="TT Interphases"/>
                  <a:sym typeface="TT Interphases"/>
                </a:rPr>
                <a:t>Better recommendations lead to increased viewer satisfaction.</a:t>
              </a:r>
            </a:p>
          </p:txBody>
        </p:sp>
      </p:gr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1509711" y="6146800"/>
            <a:ext cx="94578" cy="221664"/>
          </a:xfrm>
          <a:prstGeom prst="rect">
            <a:avLst/>
          </a:prstGeom>
        </p:spPr>
        <p:txBody>
          <a:bodyPr wrap="none" lIns="0" tIns="0" rIns="0" bIns="0" rtlCol="0" anchor="t">
            <a:spAutoFit/>
          </a:bodyPr>
          <a:lstStyle/>
          <a:p>
            <a:pPr algn="ctr">
              <a:lnSpc>
                <a:spcPts val="1867"/>
              </a:lnSpc>
              <a:spcBef>
                <a:spcPct val="0"/>
              </a:spcBef>
            </a:pPr>
            <a:r>
              <a:rPr lang="en-US" sz="1333">
                <a:solidFill>
                  <a:srgbClr val="6A2C70"/>
                </a:solidFill>
                <a:latin typeface="Helvetica World"/>
                <a:ea typeface="Helvetica World"/>
                <a:cs typeface="Helvetica World"/>
                <a:sym typeface="Helvetica World"/>
              </a:rPr>
              <a:t>8</a:t>
            </a:r>
          </a:p>
        </p:txBody>
      </p:sp>
      <p:grpSp>
        <p:nvGrpSpPr>
          <p:cNvPr id="3" name="Group 3"/>
          <p:cNvGrpSpPr/>
          <p:nvPr/>
        </p:nvGrpSpPr>
        <p:grpSpPr>
          <a:xfrm>
            <a:off x="444500" y="3429000"/>
            <a:ext cx="3632200" cy="2984500"/>
            <a:chOff x="0" y="0"/>
            <a:chExt cx="1631088" cy="1340230"/>
          </a:xfrm>
        </p:grpSpPr>
        <p:sp>
          <p:nvSpPr>
            <p:cNvPr id="4" name="Freeform 4"/>
            <p:cNvSpPr/>
            <p:nvPr/>
          </p:nvSpPr>
          <p:spPr>
            <a:xfrm>
              <a:off x="0" y="0"/>
              <a:ext cx="1631088" cy="1340230"/>
            </a:xfrm>
            <a:custGeom>
              <a:avLst/>
              <a:gdLst/>
              <a:ahLst/>
              <a:cxnLst/>
              <a:rect l="l" t="t" r="r" b="b"/>
              <a:pathLst>
                <a:path w="1631088" h="1340230">
                  <a:moveTo>
                    <a:pt x="28420" y="0"/>
                  </a:moveTo>
                  <a:lnTo>
                    <a:pt x="1602669" y="0"/>
                  </a:lnTo>
                  <a:cubicBezTo>
                    <a:pt x="1618365" y="0"/>
                    <a:pt x="1631088" y="12724"/>
                    <a:pt x="1631088" y="28420"/>
                  </a:cubicBezTo>
                  <a:lnTo>
                    <a:pt x="1631088" y="1311810"/>
                  </a:lnTo>
                  <a:cubicBezTo>
                    <a:pt x="1631088" y="1327506"/>
                    <a:pt x="1618365" y="1340230"/>
                    <a:pt x="1602669" y="1340230"/>
                  </a:cubicBezTo>
                  <a:lnTo>
                    <a:pt x="28420" y="1340230"/>
                  </a:lnTo>
                  <a:cubicBezTo>
                    <a:pt x="12724" y="1340230"/>
                    <a:pt x="0" y="1327506"/>
                    <a:pt x="0" y="1311810"/>
                  </a:cubicBezTo>
                  <a:lnTo>
                    <a:pt x="0" y="28420"/>
                  </a:lnTo>
                  <a:cubicBezTo>
                    <a:pt x="0" y="12724"/>
                    <a:pt x="12724" y="0"/>
                    <a:pt x="28420" y="0"/>
                  </a:cubicBezTo>
                  <a:close/>
                </a:path>
              </a:pathLst>
            </a:custGeom>
            <a:blipFill>
              <a:blip r:embed="rId2"/>
              <a:stretch>
                <a:fillRect l="-332" r="-332"/>
              </a:stretch>
            </a:blipFill>
            <a:ln cap="sq">
              <a:noFill/>
              <a:prstDash val="solid"/>
              <a:miter/>
            </a:ln>
          </p:spPr>
        </p:sp>
      </p:grpSp>
      <p:grpSp>
        <p:nvGrpSpPr>
          <p:cNvPr id="5" name="Group 5"/>
          <p:cNvGrpSpPr/>
          <p:nvPr/>
        </p:nvGrpSpPr>
        <p:grpSpPr>
          <a:xfrm>
            <a:off x="4279900" y="3429000"/>
            <a:ext cx="3632200" cy="2984500"/>
            <a:chOff x="0" y="0"/>
            <a:chExt cx="1631088" cy="1340230"/>
          </a:xfrm>
        </p:grpSpPr>
        <p:sp>
          <p:nvSpPr>
            <p:cNvPr id="6" name="Freeform 6"/>
            <p:cNvSpPr/>
            <p:nvPr/>
          </p:nvSpPr>
          <p:spPr>
            <a:xfrm>
              <a:off x="0" y="0"/>
              <a:ext cx="1631088" cy="1340230"/>
            </a:xfrm>
            <a:custGeom>
              <a:avLst/>
              <a:gdLst/>
              <a:ahLst/>
              <a:cxnLst/>
              <a:rect l="l" t="t" r="r" b="b"/>
              <a:pathLst>
                <a:path w="1631088" h="1340230">
                  <a:moveTo>
                    <a:pt x="28420" y="0"/>
                  </a:moveTo>
                  <a:lnTo>
                    <a:pt x="1602669" y="0"/>
                  </a:lnTo>
                  <a:cubicBezTo>
                    <a:pt x="1618365" y="0"/>
                    <a:pt x="1631088" y="12724"/>
                    <a:pt x="1631088" y="28420"/>
                  </a:cubicBezTo>
                  <a:lnTo>
                    <a:pt x="1631088" y="1311810"/>
                  </a:lnTo>
                  <a:cubicBezTo>
                    <a:pt x="1631088" y="1327506"/>
                    <a:pt x="1618365" y="1340230"/>
                    <a:pt x="1602669" y="1340230"/>
                  </a:cubicBezTo>
                  <a:lnTo>
                    <a:pt x="28420" y="1340230"/>
                  </a:lnTo>
                  <a:cubicBezTo>
                    <a:pt x="12724" y="1340230"/>
                    <a:pt x="0" y="1327506"/>
                    <a:pt x="0" y="1311810"/>
                  </a:cubicBezTo>
                  <a:lnTo>
                    <a:pt x="0" y="28420"/>
                  </a:lnTo>
                  <a:cubicBezTo>
                    <a:pt x="0" y="12724"/>
                    <a:pt x="12724" y="0"/>
                    <a:pt x="28420" y="0"/>
                  </a:cubicBezTo>
                  <a:close/>
                </a:path>
              </a:pathLst>
            </a:custGeom>
            <a:blipFill>
              <a:blip r:embed="rId3"/>
              <a:stretch>
                <a:fillRect l="-332" r="-332"/>
              </a:stretch>
            </a:blipFill>
            <a:ln cap="sq">
              <a:noFill/>
              <a:prstDash val="solid"/>
              <a:miter/>
            </a:ln>
          </p:spPr>
        </p:sp>
      </p:grpSp>
      <p:grpSp>
        <p:nvGrpSpPr>
          <p:cNvPr id="7" name="Group 7"/>
          <p:cNvGrpSpPr/>
          <p:nvPr/>
        </p:nvGrpSpPr>
        <p:grpSpPr>
          <a:xfrm>
            <a:off x="8115300" y="3429000"/>
            <a:ext cx="3628561" cy="2984500"/>
            <a:chOff x="0" y="0"/>
            <a:chExt cx="1629454" cy="1340230"/>
          </a:xfrm>
        </p:grpSpPr>
        <p:sp>
          <p:nvSpPr>
            <p:cNvPr id="8" name="Freeform 8"/>
            <p:cNvSpPr/>
            <p:nvPr/>
          </p:nvSpPr>
          <p:spPr>
            <a:xfrm>
              <a:off x="0" y="0"/>
              <a:ext cx="1629454" cy="1340230"/>
            </a:xfrm>
            <a:custGeom>
              <a:avLst/>
              <a:gdLst/>
              <a:ahLst/>
              <a:cxnLst/>
              <a:rect l="l" t="t" r="r" b="b"/>
              <a:pathLst>
                <a:path w="1629454" h="1340230">
                  <a:moveTo>
                    <a:pt x="28448" y="0"/>
                  </a:moveTo>
                  <a:lnTo>
                    <a:pt x="1601006" y="0"/>
                  </a:lnTo>
                  <a:cubicBezTo>
                    <a:pt x="1608551" y="0"/>
                    <a:pt x="1615787" y="2997"/>
                    <a:pt x="1621122" y="8332"/>
                  </a:cubicBezTo>
                  <a:cubicBezTo>
                    <a:pt x="1626457" y="13667"/>
                    <a:pt x="1629454" y="20903"/>
                    <a:pt x="1629454" y="28448"/>
                  </a:cubicBezTo>
                  <a:lnTo>
                    <a:pt x="1629454" y="1311782"/>
                  </a:lnTo>
                  <a:cubicBezTo>
                    <a:pt x="1629454" y="1319327"/>
                    <a:pt x="1626457" y="1326563"/>
                    <a:pt x="1621122" y="1331898"/>
                  </a:cubicBezTo>
                  <a:cubicBezTo>
                    <a:pt x="1615787" y="1337233"/>
                    <a:pt x="1608551" y="1340230"/>
                    <a:pt x="1601006" y="1340230"/>
                  </a:cubicBezTo>
                  <a:lnTo>
                    <a:pt x="28448" y="1340230"/>
                  </a:lnTo>
                  <a:cubicBezTo>
                    <a:pt x="20903" y="1340230"/>
                    <a:pt x="13667" y="1337233"/>
                    <a:pt x="8332" y="1331898"/>
                  </a:cubicBezTo>
                  <a:cubicBezTo>
                    <a:pt x="2997" y="1326563"/>
                    <a:pt x="0" y="1319327"/>
                    <a:pt x="0" y="1311782"/>
                  </a:cubicBezTo>
                  <a:lnTo>
                    <a:pt x="0" y="28448"/>
                  </a:lnTo>
                  <a:cubicBezTo>
                    <a:pt x="0" y="20903"/>
                    <a:pt x="2997" y="13667"/>
                    <a:pt x="8332" y="8332"/>
                  </a:cubicBezTo>
                  <a:cubicBezTo>
                    <a:pt x="13667" y="2997"/>
                    <a:pt x="20903" y="0"/>
                    <a:pt x="28448" y="0"/>
                  </a:cubicBezTo>
                  <a:close/>
                </a:path>
              </a:pathLst>
            </a:custGeom>
            <a:blipFill>
              <a:blip r:embed="rId4"/>
              <a:stretch>
                <a:fillRect l="-383" r="-382"/>
              </a:stretch>
            </a:blipFill>
            <a:ln cap="sq">
              <a:noFill/>
              <a:prstDash val="solid"/>
              <a:miter/>
            </a:ln>
          </p:spPr>
        </p:sp>
      </p:grpSp>
      <p:sp>
        <p:nvSpPr>
          <p:cNvPr id="9" name="Freeform 9"/>
          <p:cNvSpPr/>
          <p:nvPr/>
        </p:nvSpPr>
        <p:spPr>
          <a:xfrm rot="-3117037">
            <a:off x="10732983" y="5301814"/>
            <a:ext cx="1408403" cy="1239395"/>
          </a:xfrm>
          <a:custGeom>
            <a:avLst/>
            <a:gdLst/>
            <a:ahLst/>
            <a:cxnLst/>
            <a:rect l="l" t="t" r="r" b="b"/>
            <a:pathLst>
              <a:path w="2112604" h="1859092">
                <a:moveTo>
                  <a:pt x="0" y="0"/>
                </a:moveTo>
                <a:lnTo>
                  <a:pt x="2112605" y="0"/>
                </a:lnTo>
                <a:lnTo>
                  <a:pt x="2112605" y="1859092"/>
                </a:lnTo>
                <a:lnTo>
                  <a:pt x="0" y="1859092"/>
                </a:lnTo>
                <a:lnTo>
                  <a:pt x="0" y="0"/>
                </a:lnTo>
                <a:close/>
              </a:path>
            </a:pathLst>
          </a:custGeom>
          <a:blipFill>
            <a:blip r:embed="rId5">
              <a:extLst>
                <a:ext uri="{96DAC541-7B7A-43D3-8B79-37D633B846F1}">
                  <asvg:svgBlip xmlns:asvg="http://schemas.microsoft.com/office/drawing/2016/SVG/main" r:embed="rId6"/>
                </a:ext>
              </a:extLst>
            </a:blip>
            <a:stretch>
              <a:fillRect/>
            </a:stretch>
          </a:blipFill>
          <a:ln cap="sq">
            <a:noFill/>
            <a:prstDash val="solid"/>
            <a:miter/>
          </a:ln>
        </p:spPr>
      </p:sp>
      <p:grpSp>
        <p:nvGrpSpPr>
          <p:cNvPr id="10" name="Group 10"/>
          <p:cNvGrpSpPr/>
          <p:nvPr/>
        </p:nvGrpSpPr>
        <p:grpSpPr>
          <a:xfrm>
            <a:off x="444499" y="473075"/>
            <a:ext cx="11065211" cy="2062295"/>
            <a:chOff x="-2" y="57149"/>
            <a:chExt cx="22130422" cy="4124591"/>
          </a:xfrm>
        </p:grpSpPr>
        <p:sp>
          <p:nvSpPr>
            <p:cNvPr id="11" name="TextBox 11"/>
            <p:cNvSpPr txBox="1"/>
            <p:nvPr/>
          </p:nvSpPr>
          <p:spPr>
            <a:xfrm>
              <a:off x="0" y="57149"/>
              <a:ext cx="20688300" cy="2564805"/>
            </a:xfrm>
            <a:prstGeom prst="rect">
              <a:avLst/>
            </a:prstGeom>
          </p:spPr>
          <p:txBody>
            <a:bodyPr lIns="0" tIns="0" rIns="0" bIns="0" rtlCol="0" anchor="t">
              <a:spAutoFit/>
            </a:bodyPr>
            <a:lstStyle/>
            <a:p>
              <a:pPr>
                <a:lnSpc>
                  <a:spcPts val="5035"/>
                </a:lnSpc>
              </a:pPr>
              <a:r>
                <a:rPr lang="en-US" sz="4578" spc="-137">
                  <a:solidFill>
                    <a:srgbClr val="6A2C70"/>
                  </a:solidFill>
                  <a:latin typeface="Georgia Pro Condensed"/>
                  <a:ea typeface="Georgia Pro Condensed"/>
                  <a:cs typeface="Georgia Pro Condensed"/>
                  <a:sym typeface="Georgia Pro Condensed"/>
                </a:rPr>
                <a:t>Analyzing User Reviews for Recommendations</a:t>
              </a:r>
            </a:p>
          </p:txBody>
        </p:sp>
        <p:sp>
          <p:nvSpPr>
            <p:cNvPr id="12" name="TextBox 12"/>
            <p:cNvSpPr txBox="1"/>
            <p:nvPr/>
          </p:nvSpPr>
          <p:spPr>
            <a:xfrm>
              <a:off x="6360160" y="2585680"/>
              <a:ext cx="14481812" cy="480774"/>
            </a:xfrm>
            <a:prstGeom prst="rect">
              <a:avLst/>
            </a:prstGeom>
          </p:spPr>
          <p:txBody>
            <a:bodyPr lIns="0" tIns="0" rIns="0" bIns="0" rtlCol="0" anchor="t">
              <a:spAutoFit/>
            </a:bodyPr>
            <a:lstStyle/>
            <a:p>
              <a:pPr>
                <a:lnSpc>
                  <a:spcPts val="1975"/>
                </a:lnSpc>
                <a:spcBef>
                  <a:spcPct val="0"/>
                </a:spcBef>
              </a:pPr>
              <a:r>
                <a:rPr lang="en-US" sz="1645" b="1" spc="-25" dirty="0">
                  <a:solidFill>
                    <a:srgbClr val="C00000"/>
                  </a:solidFill>
                  <a:latin typeface="Helvetica World Bold"/>
                  <a:ea typeface="Helvetica World Bold"/>
                  <a:cs typeface="Helvetica World Bold"/>
                  <a:sym typeface="Helvetica World Bold"/>
                </a:rPr>
                <a:t>Discovering Feel-Good and Thriller Movies</a:t>
              </a:r>
            </a:p>
          </p:txBody>
        </p:sp>
        <p:sp>
          <p:nvSpPr>
            <p:cNvPr id="13" name="TextBox 13"/>
            <p:cNvSpPr txBox="1"/>
            <p:nvPr/>
          </p:nvSpPr>
          <p:spPr>
            <a:xfrm>
              <a:off x="-2" y="3101828"/>
              <a:ext cx="22130422" cy="1079912"/>
            </a:xfrm>
            <a:prstGeom prst="rect">
              <a:avLst/>
            </a:prstGeom>
          </p:spPr>
          <p:txBody>
            <a:bodyPr wrap="square" lIns="0" tIns="0" rIns="0" bIns="0" rtlCol="0" anchor="t">
              <a:spAutoFit/>
            </a:bodyPr>
            <a:lstStyle/>
            <a:p>
              <a:pPr>
                <a:lnSpc>
                  <a:spcPts val="2216"/>
                </a:lnSpc>
              </a:pPr>
              <a:r>
                <a:rPr lang="en-US" sz="1583" spc="-23" dirty="0">
                  <a:solidFill>
                    <a:srgbClr val="6A2C70"/>
                  </a:solidFill>
                  <a:latin typeface="Helvetica World"/>
                  <a:ea typeface="Helvetica World"/>
                  <a:cs typeface="Helvetica World"/>
                  <a:sym typeface="Helvetica World"/>
                </a:rPr>
                <a:t>Sentiment analysis helps recommend </a:t>
              </a:r>
              <a:r>
                <a:rPr lang="en-US" sz="1583" b="1" spc="-23" dirty="0">
                  <a:solidFill>
                    <a:srgbClr val="6A2C70"/>
                  </a:solidFill>
                  <a:latin typeface="Helvetica World Bold"/>
                  <a:ea typeface="Helvetica World Bold"/>
                  <a:cs typeface="Helvetica World Bold"/>
                  <a:sym typeface="Helvetica World Bold"/>
                </a:rPr>
                <a:t>uplifting films</a:t>
              </a:r>
              <a:r>
                <a:rPr lang="en-US" sz="1583" spc="-23" dirty="0">
                  <a:solidFill>
                    <a:srgbClr val="6A2C70"/>
                  </a:solidFill>
                  <a:latin typeface="Helvetica World"/>
                  <a:ea typeface="Helvetica World"/>
                  <a:cs typeface="Helvetica World"/>
                  <a:sym typeface="Helvetica World"/>
                </a:rPr>
                <a:t> for a cozy night or </a:t>
              </a:r>
              <a:r>
                <a:rPr lang="en-US" sz="1583" b="1" spc="-23" dirty="0">
                  <a:solidFill>
                    <a:srgbClr val="6A2C70"/>
                  </a:solidFill>
                  <a:latin typeface="Helvetica World Bold"/>
                  <a:ea typeface="Helvetica World Bold"/>
                  <a:cs typeface="Helvetica World Bold"/>
                  <a:sym typeface="Helvetica World Bold"/>
                </a:rPr>
                <a:t>thrilling adventures</a:t>
              </a:r>
              <a:r>
                <a:rPr lang="en-US" sz="1583" spc="-23" dirty="0">
                  <a:solidFill>
                    <a:srgbClr val="6A2C70"/>
                  </a:solidFill>
                  <a:latin typeface="Helvetica World"/>
                  <a:ea typeface="Helvetica World"/>
                  <a:cs typeface="Helvetica World"/>
                  <a:sym typeface="Helvetica World"/>
                </a:rPr>
                <a:t> based on user reviews. Studies show that </a:t>
              </a:r>
              <a:r>
                <a:rPr lang="en-US" sz="1583" b="1" spc="-23" dirty="0">
                  <a:solidFill>
                    <a:srgbClr val="6A2C70"/>
                  </a:solidFill>
                  <a:latin typeface="Helvetica World Bold"/>
                  <a:ea typeface="Helvetica World Bold"/>
                  <a:cs typeface="Helvetica World Bold"/>
                  <a:sym typeface="Helvetica World Bold"/>
                </a:rPr>
                <a:t>75% of movie watchers</a:t>
              </a:r>
              <a:r>
                <a:rPr lang="en-US" sz="1583" spc="-23" dirty="0">
                  <a:solidFill>
                    <a:srgbClr val="6A2C70"/>
                  </a:solidFill>
                  <a:latin typeface="Helvetica World"/>
                  <a:ea typeface="Helvetica World"/>
                  <a:cs typeface="Helvetica World"/>
                  <a:sym typeface="Helvetica World"/>
                </a:rPr>
                <a:t> value reviews in their choices.</a:t>
              </a:r>
            </a:p>
          </p:txBody>
        </p:sp>
      </p:gr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444500" y="3424238"/>
            <a:ext cx="3632200" cy="1639184"/>
            <a:chOff x="0" y="-9525"/>
            <a:chExt cx="7264400" cy="3278368"/>
          </a:xfrm>
        </p:grpSpPr>
        <p:sp>
          <p:nvSpPr>
            <p:cNvPr id="3" name="TextBox 3"/>
            <p:cNvSpPr txBox="1"/>
            <p:nvPr/>
          </p:nvSpPr>
          <p:spPr>
            <a:xfrm>
              <a:off x="0" y="1155701"/>
              <a:ext cx="7264400" cy="2113142"/>
            </a:xfrm>
            <a:prstGeom prst="rect">
              <a:avLst/>
            </a:prstGeom>
          </p:spPr>
          <p:txBody>
            <a:bodyPr lIns="0" tIns="0" rIns="0" bIns="0" rtlCol="0" anchor="t">
              <a:spAutoFit/>
            </a:bodyPr>
            <a:lstStyle/>
            <a:p>
              <a:pPr>
                <a:lnSpc>
                  <a:spcPts val="2080"/>
                </a:lnSpc>
                <a:spcBef>
                  <a:spcPct val="0"/>
                </a:spcBef>
              </a:pPr>
              <a:r>
                <a:rPr lang="en-US" sz="1600" spc="-32" dirty="0">
                  <a:solidFill>
                    <a:srgbClr val="22577A"/>
                  </a:solidFill>
                  <a:latin typeface="TT Interphases"/>
                  <a:ea typeface="TT Interphases"/>
                  <a:cs typeface="TT Interphases"/>
                  <a:sym typeface="TT Interphases"/>
                </a:rPr>
                <a:t>Sarcasm can be tricky for machines; phrases like "Great job!" might be sincere or sarcastic, making it challenging to interpret true sentiment without context.</a:t>
              </a:r>
            </a:p>
          </p:txBody>
        </p:sp>
        <p:sp>
          <p:nvSpPr>
            <p:cNvPr id="4" name="TextBox 4"/>
            <p:cNvSpPr txBox="1"/>
            <p:nvPr/>
          </p:nvSpPr>
          <p:spPr>
            <a:xfrm>
              <a:off x="0" y="-9525"/>
              <a:ext cx="7264400" cy="615554"/>
            </a:xfrm>
            <a:prstGeom prst="rect">
              <a:avLst/>
            </a:prstGeom>
          </p:spPr>
          <p:txBody>
            <a:bodyPr lIns="0" tIns="0" rIns="0" bIns="0" rtlCol="0" anchor="t">
              <a:spAutoFit/>
            </a:bodyPr>
            <a:lstStyle/>
            <a:p>
              <a:pPr>
                <a:lnSpc>
                  <a:spcPts val="2400"/>
                </a:lnSpc>
                <a:spcBef>
                  <a:spcPct val="0"/>
                </a:spcBef>
              </a:pPr>
              <a:r>
                <a:rPr lang="en-US" sz="2000">
                  <a:solidFill>
                    <a:srgbClr val="22577A"/>
                  </a:solidFill>
                  <a:latin typeface="Cooper BT Medium"/>
                  <a:ea typeface="Cooper BT Medium"/>
                  <a:cs typeface="Cooper BT Medium"/>
                  <a:sym typeface="Cooper BT Medium"/>
                </a:rPr>
                <a:t>Sarcasm Detection</a:t>
              </a:r>
            </a:p>
          </p:txBody>
        </p:sp>
      </p:grpSp>
      <p:grpSp>
        <p:nvGrpSpPr>
          <p:cNvPr id="5" name="Group 5"/>
          <p:cNvGrpSpPr/>
          <p:nvPr/>
        </p:nvGrpSpPr>
        <p:grpSpPr>
          <a:xfrm>
            <a:off x="4279900" y="3424238"/>
            <a:ext cx="3632200" cy="1908489"/>
            <a:chOff x="0" y="-9525"/>
            <a:chExt cx="7264400" cy="3816978"/>
          </a:xfrm>
        </p:grpSpPr>
        <p:sp>
          <p:nvSpPr>
            <p:cNvPr id="6" name="TextBox 6"/>
            <p:cNvSpPr txBox="1"/>
            <p:nvPr/>
          </p:nvSpPr>
          <p:spPr>
            <a:xfrm>
              <a:off x="0" y="1155701"/>
              <a:ext cx="7264400" cy="2651752"/>
            </a:xfrm>
            <a:prstGeom prst="rect">
              <a:avLst/>
            </a:prstGeom>
          </p:spPr>
          <p:txBody>
            <a:bodyPr lIns="0" tIns="0" rIns="0" bIns="0" rtlCol="0" anchor="t">
              <a:spAutoFit/>
            </a:bodyPr>
            <a:lstStyle/>
            <a:p>
              <a:pPr>
                <a:lnSpc>
                  <a:spcPts val="2080"/>
                </a:lnSpc>
                <a:spcBef>
                  <a:spcPct val="0"/>
                </a:spcBef>
              </a:pPr>
              <a:r>
                <a:rPr lang="en-US" sz="1600" spc="-32">
                  <a:solidFill>
                    <a:srgbClr val="22577A"/>
                  </a:solidFill>
                  <a:latin typeface="TT Interphases"/>
                  <a:ea typeface="TT Interphases"/>
                  <a:cs typeface="TT Interphases"/>
                  <a:sym typeface="TT Interphases"/>
                </a:rPr>
                <a:t>Reviews often contain mixed emotions, such as "I loved the action but hated the ending." Sentiment analysis must balance these conflicting feelings to make accurate recommendations.</a:t>
              </a:r>
            </a:p>
          </p:txBody>
        </p:sp>
        <p:sp>
          <p:nvSpPr>
            <p:cNvPr id="7" name="TextBox 7"/>
            <p:cNvSpPr txBox="1"/>
            <p:nvPr/>
          </p:nvSpPr>
          <p:spPr>
            <a:xfrm>
              <a:off x="0" y="-9525"/>
              <a:ext cx="7264400" cy="615554"/>
            </a:xfrm>
            <a:prstGeom prst="rect">
              <a:avLst/>
            </a:prstGeom>
          </p:spPr>
          <p:txBody>
            <a:bodyPr lIns="0" tIns="0" rIns="0" bIns="0" rtlCol="0" anchor="t">
              <a:spAutoFit/>
            </a:bodyPr>
            <a:lstStyle/>
            <a:p>
              <a:pPr>
                <a:lnSpc>
                  <a:spcPts val="2400"/>
                </a:lnSpc>
                <a:spcBef>
                  <a:spcPct val="0"/>
                </a:spcBef>
              </a:pPr>
              <a:r>
                <a:rPr lang="en-US" sz="2000">
                  <a:solidFill>
                    <a:srgbClr val="22577A"/>
                  </a:solidFill>
                  <a:latin typeface="Cooper BT Medium"/>
                  <a:ea typeface="Cooper BT Medium"/>
                  <a:cs typeface="Cooper BT Medium"/>
                  <a:sym typeface="Cooper BT Medium"/>
                </a:rPr>
                <a:t>Mixed Feelings</a:t>
              </a:r>
            </a:p>
          </p:txBody>
        </p:sp>
      </p:grpSp>
      <p:grpSp>
        <p:nvGrpSpPr>
          <p:cNvPr id="8" name="Group 8"/>
          <p:cNvGrpSpPr/>
          <p:nvPr/>
        </p:nvGrpSpPr>
        <p:grpSpPr>
          <a:xfrm>
            <a:off x="8115300" y="3424238"/>
            <a:ext cx="3632200" cy="1908489"/>
            <a:chOff x="0" y="-9525"/>
            <a:chExt cx="7264400" cy="3816978"/>
          </a:xfrm>
        </p:grpSpPr>
        <p:sp>
          <p:nvSpPr>
            <p:cNvPr id="9" name="TextBox 9"/>
            <p:cNvSpPr txBox="1"/>
            <p:nvPr/>
          </p:nvSpPr>
          <p:spPr>
            <a:xfrm>
              <a:off x="0" y="1155701"/>
              <a:ext cx="7264400" cy="2651752"/>
            </a:xfrm>
            <a:prstGeom prst="rect">
              <a:avLst/>
            </a:prstGeom>
          </p:spPr>
          <p:txBody>
            <a:bodyPr lIns="0" tIns="0" rIns="0" bIns="0" rtlCol="0" anchor="t">
              <a:spAutoFit/>
            </a:bodyPr>
            <a:lstStyle/>
            <a:p>
              <a:pPr>
                <a:lnSpc>
                  <a:spcPts val="2080"/>
                </a:lnSpc>
                <a:spcBef>
                  <a:spcPct val="0"/>
                </a:spcBef>
              </a:pPr>
              <a:r>
                <a:rPr lang="en-US" sz="1600" spc="-32">
                  <a:solidFill>
                    <a:srgbClr val="22577A"/>
                  </a:solidFill>
                  <a:latin typeface="TT Interphases"/>
                  <a:ea typeface="TT Interphases"/>
                  <a:cs typeface="TT Interphases"/>
                  <a:sym typeface="TT Interphases"/>
                </a:rPr>
                <a:t>The context of a review greatly influences sentiment. Without understanding specific phrases or references, machines may misinterpret the emotional intent of the reviewer.</a:t>
              </a:r>
            </a:p>
          </p:txBody>
        </p:sp>
        <p:sp>
          <p:nvSpPr>
            <p:cNvPr id="10" name="TextBox 10"/>
            <p:cNvSpPr txBox="1"/>
            <p:nvPr/>
          </p:nvSpPr>
          <p:spPr>
            <a:xfrm>
              <a:off x="0" y="-9525"/>
              <a:ext cx="7264400" cy="615554"/>
            </a:xfrm>
            <a:prstGeom prst="rect">
              <a:avLst/>
            </a:prstGeom>
          </p:spPr>
          <p:txBody>
            <a:bodyPr lIns="0" tIns="0" rIns="0" bIns="0" rtlCol="0" anchor="t">
              <a:spAutoFit/>
            </a:bodyPr>
            <a:lstStyle/>
            <a:p>
              <a:pPr>
                <a:lnSpc>
                  <a:spcPts val="2400"/>
                </a:lnSpc>
                <a:spcBef>
                  <a:spcPct val="0"/>
                </a:spcBef>
              </a:pPr>
              <a:r>
                <a:rPr lang="en-US" sz="2000">
                  <a:solidFill>
                    <a:srgbClr val="22577A"/>
                  </a:solidFill>
                  <a:latin typeface="Cooper BT Medium"/>
                  <a:ea typeface="Cooper BT Medium"/>
                  <a:cs typeface="Cooper BT Medium"/>
                  <a:sym typeface="Cooper BT Medium"/>
                </a:rPr>
                <a:t>Context Matters</a:t>
              </a:r>
            </a:p>
          </p:txBody>
        </p:sp>
      </p:grpSp>
      <p:grpSp>
        <p:nvGrpSpPr>
          <p:cNvPr id="11" name="Group 11"/>
          <p:cNvGrpSpPr/>
          <p:nvPr/>
        </p:nvGrpSpPr>
        <p:grpSpPr>
          <a:xfrm>
            <a:off x="444500" y="525463"/>
            <a:ext cx="8426450" cy="1102415"/>
            <a:chOff x="0" y="161925"/>
            <a:chExt cx="16852900" cy="2204831"/>
          </a:xfrm>
        </p:grpSpPr>
        <p:sp>
          <p:nvSpPr>
            <p:cNvPr id="12" name="TextBox 12"/>
            <p:cNvSpPr txBox="1"/>
            <p:nvPr/>
          </p:nvSpPr>
          <p:spPr>
            <a:xfrm>
              <a:off x="0" y="1869440"/>
              <a:ext cx="16852900" cy="497316"/>
            </a:xfrm>
            <a:prstGeom prst="rect">
              <a:avLst/>
            </a:prstGeom>
          </p:spPr>
          <p:txBody>
            <a:bodyPr lIns="0" tIns="0" rIns="0" bIns="0" rtlCol="0" anchor="t">
              <a:spAutoFit/>
            </a:bodyPr>
            <a:lstStyle/>
            <a:p>
              <a:pPr>
                <a:lnSpc>
                  <a:spcPts val="2080"/>
                </a:lnSpc>
                <a:spcBef>
                  <a:spcPct val="0"/>
                </a:spcBef>
              </a:pPr>
              <a:r>
                <a:rPr lang="en-US" sz="1600" b="1" spc="-32">
                  <a:solidFill>
                    <a:srgbClr val="22577A"/>
                  </a:solidFill>
                  <a:latin typeface="TT Interphases Bold"/>
                  <a:ea typeface="TT Interphases Bold"/>
                  <a:cs typeface="TT Interphases Bold"/>
                  <a:sym typeface="TT Interphases Bold"/>
                </a:rPr>
                <a:t>Understanding sarcasm and mixed emotions</a:t>
              </a:r>
            </a:p>
          </p:txBody>
        </p:sp>
        <p:sp>
          <p:nvSpPr>
            <p:cNvPr id="13" name="TextBox 13"/>
            <p:cNvSpPr txBox="1"/>
            <p:nvPr/>
          </p:nvSpPr>
          <p:spPr>
            <a:xfrm>
              <a:off x="0" y="161925"/>
              <a:ext cx="16852900" cy="1461939"/>
            </a:xfrm>
            <a:prstGeom prst="rect">
              <a:avLst/>
            </a:prstGeom>
          </p:spPr>
          <p:txBody>
            <a:bodyPr lIns="0" tIns="0" rIns="0" bIns="0" rtlCol="0" anchor="t">
              <a:spAutoFit/>
            </a:bodyPr>
            <a:lstStyle/>
            <a:p>
              <a:pPr>
                <a:lnSpc>
                  <a:spcPts val="5666"/>
                </a:lnSpc>
                <a:spcBef>
                  <a:spcPct val="0"/>
                </a:spcBef>
              </a:pPr>
              <a:r>
                <a:rPr lang="en-US" sz="5666" spc="-113">
                  <a:solidFill>
                    <a:srgbClr val="22577A"/>
                  </a:solidFill>
                  <a:latin typeface="Cooper BT Light"/>
                  <a:ea typeface="Cooper BT Light"/>
                  <a:cs typeface="Cooper BT Light"/>
                  <a:sym typeface="Cooper BT Light"/>
                </a:rPr>
                <a:t>Challenges in Reviews</a:t>
              </a:r>
            </a:p>
          </p:txBody>
        </p:sp>
      </p:grpSp>
      <p:sp>
        <p:nvSpPr>
          <p:cNvPr id="14" name="Freeform 14"/>
          <p:cNvSpPr/>
          <p:nvPr/>
        </p:nvSpPr>
        <p:spPr>
          <a:xfrm flipH="1">
            <a:off x="9306039" y="1028604"/>
            <a:ext cx="1250722" cy="998303"/>
          </a:xfrm>
          <a:custGeom>
            <a:avLst/>
            <a:gdLst/>
            <a:ahLst/>
            <a:cxnLst/>
            <a:rect l="l" t="t" r="r" b="b"/>
            <a:pathLst>
              <a:path w="1876083" h="1497455">
                <a:moveTo>
                  <a:pt x="1876083" y="0"/>
                </a:moveTo>
                <a:lnTo>
                  <a:pt x="0" y="0"/>
                </a:lnTo>
                <a:lnTo>
                  <a:pt x="0" y="1497455"/>
                </a:lnTo>
                <a:lnTo>
                  <a:pt x="1876083" y="1497455"/>
                </a:lnTo>
                <a:lnTo>
                  <a:pt x="1876083" y="0"/>
                </a:lnTo>
                <a:close/>
              </a:path>
            </a:pathLst>
          </a:custGeom>
          <a:blipFill>
            <a:blip r:embed="rId2">
              <a:extLst>
                <a:ext uri="{96DAC541-7B7A-43D3-8B79-37D633B846F1}">
                  <asvg:svgBlip xmlns:asvg="http://schemas.microsoft.com/office/drawing/2016/SVG/main" r:embed="rId3"/>
                </a:ext>
              </a:extLst>
            </a:blip>
            <a:stretch>
              <a:fillRect/>
            </a:stretch>
          </a:blipFill>
          <a:ln cap="sq">
            <a:noFill/>
            <a:prstDash val="solid"/>
            <a:miter/>
          </a:ln>
        </p:spPr>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DC4CA6-C281-B4DF-E0F3-74DFCA29D4DB}"/>
              </a:ext>
            </a:extLst>
          </p:cNvPr>
          <p:cNvSpPr>
            <a:spLocks noGrp="1"/>
          </p:cNvSpPr>
          <p:nvPr>
            <p:ph type="title"/>
          </p:nvPr>
        </p:nvSpPr>
        <p:spPr/>
        <p:txBody>
          <a:bodyPr>
            <a:normAutofit/>
          </a:bodyPr>
          <a:lstStyle/>
          <a:p>
            <a:r>
              <a:rPr lang="en-IN" b="1" dirty="0"/>
              <a:t>Case Study - </a:t>
            </a:r>
            <a:r>
              <a:rPr lang="en-US" b="1" spc="-197" dirty="0">
                <a:solidFill>
                  <a:srgbClr val="723D85"/>
                </a:solidFill>
                <a:latin typeface="Cooper BT Light"/>
                <a:ea typeface="Cooper BT Light"/>
                <a:cs typeface="Cooper BT Light"/>
                <a:sym typeface="Cooper BT Light"/>
              </a:rPr>
              <a:t>Netflix and Sentiment Data</a:t>
            </a:r>
            <a:br>
              <a:rPr lang="en-US" b="1" spc="-197" dirty="0">
                <a:solidFill>
                  <a:srgbClr val="723D85"/>
                </a:solidFill>
                <a:latin typeface="Cooper BT Light"/>
                <a:ea typeface="Cooper BT Light"/>
                <a:cs typeface="Cooper BT Light"/>
                <a:sym typeface="Cooper BT Light"/>
              </a:rPr>
            </a:br>
            <a:endParaRPr lang="en-IN" b="1" dirty="0"/>
          </a:p>
        </p:txBody>
      </p:sp>
      <p:sp>
        <p:nvSpPr>
          <p:cNvPr id="3" name="Content Placeholder 2">
            <a:extLst>
              <a:ext uri="{FF2B5EF4-FFF2-40B4-BE49-F238E27FC236}">
                <a16:creationId xmlns:a16="http://schemas.microsoft.com/office/drawing/2014/main" id="{EA813414-2E30-BEFE-2712-0A1AD8A0CA0B}"/>
              </a:ext>
            </a:extLst>
          </p:cNvPr>
          <p:cNvSpPr>
            <a:spLocks noGrp="1"/>
          </p:cNvSpPr>
          <p:nvPr>
            <p:ph sz="half" idx="1"/>
          </p:nvPr>
        </p:nvSpPr>
        <p:spPr>
          <a:xfrm>
            <a:off x="838200" y="1825625"/>
            <a:ext cx="4790440" cy="4351338"/>
          </a:xfrm>
        </p:spPr>
        <p:txBody>
          <a:bodyPr/>
          <a:lstStyle/>
          <a:p>
            <a:endParaRPr lang="en-IN" dirty="0"/>
          </a:p>
        </p:txBody>
      </p:sp>
      <p:sp>
        <p:nvSpPr>
          <p:cNvPr id="4" name="Content Placeholder 3">
            <a:extLst>
              <a:ext uri="{FF2B5EF4-FFF2-40B4-BE49-F238E27FC236}">
                <a16:creationId xmlns:a16="http://schemas.microsoft.com/office/drawing/2014/main" id="{0F9BB210-202F-3CAB-EBB8-0F3705C9A227}"/>
              </a:ext>
            </a:extLst>
          </p:cNvPr>
          <p:cNvSpPr>
            <a:spLocks noGrp="1"/>
          </p:cNvSpPr>
          <p:nvPr>
            <p:ph sz="half" idx="2"/>
          </p:nvPr>
        </p:nvSpPr>
        <p:spPr>
          <a:xfrm>
            <a:off x="5821680" y="1825625"/>
            <a:ext cx="5913120" cy="4351338"/>
          </a:xfrm>
        </p:spPr>
        <p:txBody>
          <a:bodyPr/>
          <a:lstStyle/>
          <a:p>
            <a:pPr marL="0" indent="0" algn="ctr">
              <a:buNone/>
            </a:pPr>
            <a:r>
              <a:rPr lang="en-US" spc="-42" dirty="0">
                <a:solidFill>
                  <a:srgbClr val="723D85"/>
                </a:solidFill>
                <a:latin typeface="TT Interphases"/>
                <a:ea typeface="TT Interphases"/>
                <a:cs typeface="TT Interphases"/>
                <a:sym typeface="TT Interphases"/>
              </a:rPr>
              <a:t>Netflix analyzes viewer reviews and sentiment data to enhance recommendations, tailoring suggestions based on emotional feedback and preferences, ultimately improving user engagement and satisfaction.</a:t>
            </a:r>
          </a:p>
          <a:p>
            <a:pPr marL="0" indent="0" algn="ctr">
              <a:buNone/>
            </a:pPr>
            <a:endParaRPr lang="en-IN" dirty="0"/>
          </a:p>
        </p:txBody>
      </p:sp>
      <p:grpSp>
        <p:nvGrpSpPr>
          <p:cNvPr id="5" name="Group 5">
            <a:extLst>
              <a:ext uri="{FF2B5EF4-FFF2-40B4-BE49-F238E27FC236}">
                <a16:creationId xmlns:a16="http://schemas.microsoft.com/office/drawing/2014/main" id="{1FF3EF79-9211-FF13-2F70-C05826CE9FD0}"/>
              </a:ext>
            </a:extLst>
          </p:cNvPr>
          <p:cNvGrpSpPr/>
          <p:nvPr/>
        </p:nvGrpSpPr>
        <p:grpSpPr>
          <a:xfrm>
            <a:off x="838200" y="1330960"/>
            <a:ext cx="4546600" cy="4998720"/>
            <a:chOff x="0" y="0"/>
            <a:chExt cx="812800" cy="1056752"/>
          </a:xfrm>
        </p:grpSpPr>
        <p:sp>
          <p:nvSpPr>
            <p:cNvPr id="6" name="Freeform 6">
              <a:extLst>
                <a:ext uri="{FF2B5EF4-FFF2-40B4-BE49-F238E27FC236}">
                  <a16:creationId xmlns:a16="http://schemas.microsoft.com/office/drawing/2014/main" id="{A5A7366A-F624-BDE0-088B-184B90841BC3}"/>
                </a:ext>
              </a:extLst>
            </p:cNvPr>
            <p:cNvSpPr/>
            <p:nvPr/>
          </p:nvSpPr>
          <p:spPr>
            <a:xfrm>
              <a:off x="0" y="0"/>
              <a:ext cx="812800" cy="1056752"/>
            </a:xfrm>
            <a:custGeom>
              <a:avLst/>
              <a:gdLst/>
              <a:ahLst/>
              <a:cxnLst/>
              <a:rect l="l" t="t" r="r" b="b"/>
              <a:pathLst>
                <a:path w="812800" h="1056752">
                  <a:moveTo>
                    <a:pt x="44968" y="0"/>
                  </a:moveTo>
                  <a:lnTo>
                    <a:pt x="767832" y="0"/>
                  </a:lnTo>
                  <a:cubicBezTo>
                    <a:pt x="779758" y="0"/>
                    <a:pt x="791196" y="4738"/>
                    <a:pt x="799629" y="13171"/>
                  </a:cubicBezTo>
                  <a:cubicBezTo>
                    <a:pt x="808062" y="21604"/>
                    <a:pt x="812800" y="33042"/>
                    <a:pt x="812800" y="44968"/>
                  </a:cubicBezTo>
                  <a:lnTo>
                    <a:pt x="812800" y="1011784"/>
                  </a:lnTo>
                  <a:cubicBezTo>
                    <a:pt x="812800" y="1023711"/>
                    <a:pt x="808062" y="1035148"/>
                    <a:pt x="799629" y="1043582"/>
                  </a:cubicBezTo>
                  <a:cubicBezTo>
                    <a:pt x="791196" y="1052015"/>
                    <a:pt x="779758" y="1056752"/>
                    <a:pt x="767832" y="1056752"/>
                  </a:cubicBezTo>
                  <a:lnTo>
                    <a:pt x="44968" y="1056752"/>
                  </a:lnTo>
                  <a:cubicBezTo>
                    <a:pt x="33042" y="1056752"/>
                    <a:pt x="21604" y="1052015"/>
                    <a:pt x="13171" y="1043582"/>
                  </a:cubicBezTo>
                  <a:cubicBezTo>
                    <a:pt x="4738" y="1035148"/>
                    <a:pt x="0" y="1023711"/>
                    <a:pt x="0" y="1011784"/>
                  </a:cubicBezTo>
                  <a:lnTo>
                    <a:pt x="0" y="44968"/>
                  </a:lnTo>
                  <a:cubicBezTo>
                    <a:pt x="0" y="33042"/>
                    <a:pt x="4738" y="21604"/>
                    <a:pt x="13171" y="13171"/>
                  </a:cubicBezTo>
                  <a:cubicBezTo>
                    <a:pt x="21604" y="4738"/>
                    <a:pt x="33042" y="0"/>
                    <a:pt x="44968" y="0"/>
                  </a:cubicBezTo>
                  <a:close/>
                </a:path>
              </a:pathLst>
            </a:custGeom>
            <a:blipFill>
              <a:blip r:embed="rId2"/>
              <a:stretch>
                <a:fillRect t="-271" b="-271"/>
              </a:stretch>
            </a:blipFill>
          </p:spPr>
        </p:sp>
      </p:grpSp>
      <p:pic>
        <p:nvPicPr>
          <p:cNvPr id="8" name="Picture 7">
            <a:extLst>
              <a:ext uri="{FF2B5EF4-FFF2-40B4-BE49-F238E27FC236}">
                <a16:creationId xmlns:a16="http://schemas.microsoft.com/office/drawing/2014/main" id="{39B3E220-BAA9-7374-6194-47C1C44D2160}"/>
              </a:ext>
            </a:extLst>
          </p:cNvPr>
          <p:cNvPicPr>
            <a:picLocks noChangeAspect="1"/>
          </p:cNvPicPr>
          <p:nvPr/>
        </p:nvPicPr>
        <p:blipFill>
          <a:blip r:embed="rId3"/>
          <a:stretch>
            <a:fillRect/>
          </a:stretch>
        </p:blipFill>
        <p:spPr>
          <a:xfrm>
            <a:off x="10321653" y="4287520"/>
            <a:ext cx="899749" cy="1402715"/>
          </a:xfrm>
          <a:prstGeom prst="rect">
            <a:avLst/>
          </a:prstGeom>
        </p:spPr>
      </p:pic>
    </p:spTree>
    <p:extLst>
      <p:ext uri="{BB962C8B-B14F-4D97-AF65-F5344CB8AC3E}">
        <p14:creationId xmlns:p14="http://schemas.microsoft.com/office/powerpoint/2010/main" val="244548646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B9D1BAB4-83DC-9088-F3E9-36D6EEB7745D}"/>
              </a:ext>
            </a:extLst>
          </p:cNvPr>
          <p:cNvSpPr>
            <a:spLocks noGrp="1"/>
          </p:cNvSpPr>
          <p:nvPr>
            <p:ph type="title"/>
          </p:nvPr>
        </p:nvSpPr>
        <p:spPr/>
        <p:txBody>
          <a:bodyPr/>
          <a:lstStyle/>
          <a:p>
            <a:r>
              <a:rPr lang="en-IN" dirty="0"/>
              <a:t>Link to Colab Notebooks</a:t>
            </a:r>
          </a:p>
        </p:txBody>
      </p:sp>
      <p:sp>
        <p:nvSpPr>
          <p:cNvPr id="6" name="Content Placeholder 5">
            <a:extLst>
              <a:ext uri="{FF2B5EF4-FFF2-40B4-BE49-F238E27FC236}">
                <a16:creationId xmlns:a16="http://schemas.microsoft.com/office/drawing/2014/main" id="{9DB07E02-B384-4B85-C0C2-6687D254FD36}"/>
              </a:ext>
            </a:extLst>
          </p:cNvPr>
          <p:cNvSpPr>
            <a:spLocks noGrp="1"/>
          </p:cNvSpPr>
          <p:nvPr>
            <p:ph idx="1"/>
          </p:nvPr>
        </p:nvSpPr>
        <p:spPr/>
        <p:txBody>
          <a:bodyPr/>
          <a:lstStyle/>
          <a:p>
            <a:r>
              <a:rPr lang="en-IN" dirty="0" err="1">
                <a:hlinkClick r:id="rId2"/>
              </a:rPr>
              <a:t>NaiveBayes</a:t>
            </a:r>
            <a:r>
              <a:rPr lang="en-IN" dirty="0">
                <a:hlinkClick r:id="rId2"/>
              </a:rPr>
              <a:t>-Sentiment-analysis-on-IMBD-movie-</a:t>
            </a:r>
            <a:r>
              <a:rPr lang="en-IN" dirty="0" err="1">
                <a:hlinkClick r:id="rId2"/>
              </a:rPr>
              <a:t>reviews.ipynb</a:t>
            </a:r>
            <a:r>
              <a:rPr lang="en-IN" dirty="0">
                <a:hlinkClick r:id="rId2"/>
              </a:rPr>
              <a:t> – Colab</a:t>
            </a:r>
            <a:endParaRPr lang="en-IN" dirty="0"/>
          </a:p>
          <a:p>
            <a:endParaRPr lang="en-IN" dirty="0"/>
          </a:p>
          <a:p>
            <a:r>
              <a:rPr lang="en-IN" dirty="0">
                <a:hlinkClick r:id="rId3"/>
              </a:rPr>
              <a:t>LSTM-Sentiment-analysis-on-IMBD-movie-</a:t>
            </a:r>
            <a:r>
              <a:rPr lang="en-IN" dirty="0" err="1">
                <a:hlinkClick r:id="rId3"/>
              </a:rPr>
              <a:t>reviews.ipynb</a:t>
            </a:r>
            <a:r>
              <a:rPr lang="en-IN" dirty="0">
                <a:hlinkClick r:id="rId3"/>
              </a:rPr>
              <a:t> – Colab</a:t>
            </a:r>
            <a:endParaRPr lang="en-IN" dirty="0"/>
          </a:p>
          <a:p>
            <a:endParaRPr lang="en-IN" dirty="0"/>
          </a:p>
          <a:p>
            <a:endParaRPr lang="en-IN" dirty="0"/>
          </a:p>
        </p:txBody>
      </p:sp>
    </p:spTree>
    <p:extLst>
      <p:ext uri="{BB962C8B-B14F-4D97-AF65-F5344CB8AC3E}">
        <p14:creationId xmlns:p14="http://schemas.microsoft.com/office/powerpoint/2010/main" val="31312150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499</TotalTime>
  <Words>1378</Words>
  <Application>Microsoft Office PowerPoint</Application>
  <PresentationFormat>Widescreen</PresentationFormat>
  <Paragraphs>142</Paragraphs>
  <Slides>25</Slides>
  <Notes>0</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25</vt:i4>
      </vt:variant>
    </vt:vector>
  </HeadingPairs>
  <TitlesOfParts>
    <vt:vector size="38" baseType="lpstr">
      <vt:lpstr>Arial</vt:lpstr>
      <vt:lpstr>Calibri</vt:lpstr>
      <vt:lpstr>Calibri Light</vt:lpstr>
      <vt:lpstr>Cooper BT Light</vt:lpstr>
      <vt:lpstr>Cooper BT Medium</vt:lpstr>
      <vt:lpstr>Georgia Pro Condensed</vt:lpstr>
      <vt:lpstr>Helvetica World</vt:lpstr>
      <vt:lpstr>Helvetica World Bold</vt:lpstr>
      <vt:lpstr>Times New Roman</vt:lpstr>
      <vt:lpstr>TT Interphases</vt:lpstr>
      <vt:lpstr>TT Interphases Bold</vt:lpstr>
      <vt:lpstr>Wingdings</vt:lpstr>
      <vt:lpstr>Office Theme</vt:lpstr>
      <vt:lpstr>Sentiment Analysis using Natural Language Processing</vt:lpstr>
      <vt:lpstr>Introduction to Natural Language Processing(NLP)</vt:lpstr>
      <vt:lpstr>Wide range of problems that uses NLP</vt:lpstr>
      <vt:lpstr>Why NLP?</vt:lpstr>
      <vt:lpstr>NLP Pipeline</vt:lpstr>
      <vt:lpstr>1 Text Preprocessing</vt:lpstr>
      <vt:lpstr>Text Preprocessing                              cont..</vt:lpstr>
      <vt:lpstr>2.Text to Features (Feature Engineering on text data)</vt:lpstr>
      <vt:lpstr>2.1Text to Features (Feature Engineering on text data)- Dependency Grammer</vt:lpstr>
      <vt:lpstr>2.1Text to Features (Feature Engineering on text data)- Parts of Speech(POS) Tagging </vt:lpstr>
      <vt:lpstr>Importance of POS tagging</vt:lpstr>
      <vt:lpstr>2.2Entity Extraction (Entities as features)</vt:lpstr>
      <vt:lpstr>2.2.2.Topic Modeling</vt:lpstr>
      <vt:lpstr>2.2.3 N-Grams as Features</vt:lpstr>
      <vt:lpstr>2.3 Statistical Features</vt:lpstr>
      <vt:lpstr> 2.3.1 Term Frequency – Inverse Document Frequency (TF – IDF) </vt:lpstr>
      <vt:lpstr>2.4 Word Embedding (text vectors)</vt:lpstr>
      <vt:lpstr>Sentiment Analysis on IMDB Movie Reviews</vt:lpstr>
      <vt:lpstr>The Movie Connection</vt:lpstr>
      <vt:lpstr>PowerPoint Presentation</vt:lpstr>
      <vt:lpstr>PowerPoint Presentation</vt:lpstr>
      <vt:lpstr>PowerPoint Presentation</vt:lpstr>
      <vt:lpstr>PowerPoint Presentation</vt:lpstr>
      <vt:lpstr>Case Study - Netflix and Sentiment Data </vt:lpstr>
      <vt:lpstr>Link to Colab Notebooks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Sushma Vatekar</dc:creator>
  <cp:lastModifiedBy>Sushma Vatekar</cp:lastModifiedBy>
  <cp:revision>13</cp:revision>
  <dcterms:created xsi:type="dcterms:W3CDTF">2025-11-19T14:23:47Z</dcterms:created>
  <dcterms:modified xsi:type="dcterms:W3CDTF">2025-11-20T07:28:02Z</dcterms:modified>
</cp:coreProperties>
</file>